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16"/>
  </p:notesMasterIdLst>
  <p:sldIdLst>
    <p:sldId id="279" r:id="rId3"/>
    <p:sldId id="454" r:id="rId4"/>
    <p:sldId id="348" r:id="rId5"/>
    <p:sldId id="347" r:id="rId6"/>
    <p:sldId id="349" r:id="rId7"/>
    <p:sldId id="443" r:id="rId8"/>
    <p:sldId id="350" r:id="rId9"/>
    <p:sldId id="352" r:id="rId10"/>
    <p:sldId id="353" r:id="rId11"/>
    <p:sldId id="355" r:id="rId12"/>
    <p:sldId id="282" r:id="rId13"/>
    <p:sldId id="357" r:id="rId14"/>
    <p:sldId id="3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94660"/>
  </p:normalViewPr>
  <p:slideViewPr>
    <p:cSldViewPr snapToGrid="0">
      <p:cViewPr varScale="1">
        <p:scale>
          <a:sx n="95" d="100"/>
          <a:sy n="95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6FB84-B269-4C5B-8695-82859ED6153D}" type="datetimeFigureOut">
              <a:rPr lang="en-GB" smtClean="0"/>
              <a:t>22/10/2025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4CD2-046A-460F-B469-DFFBE9E18B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97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won’t cover all the approaches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43711B-80A8-4E65-8692-B34A7BE9C97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28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886200"/>
            <a:ext cx="12192000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9" rIns="91436" bIns="45719" rtlCol="0" anchor="ctr"/>
          <a:lstStyle/>
          <a:p>
            <a:pPr algn="ctr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3887117"/>
            <a:ext cx="10363200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99020"/>
            <a:ext cx="8534401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608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602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04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504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19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6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2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94150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620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01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43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79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0000" y="2491199"/>
            <a:ext cx="8380800" cy="2448000"/>
          </a:xfrm>
        </p:spPr>
        <p:txBody>
          <a:bodyPr tIns="46800" anchor="t" anchorCtr="0">
            <a:noAutofit/>
          </a:bodyPr>
          <a:lstStyle>
            <a:lvl1pPr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  <a:defRPr lang="en-US" sz="5000" b="0" kern="1200" baseline="0" dirty="0">
                <a:solidFill>
                  <a:schemeClr val="accent6"/>
                </a:solidFill>
                <a:latin typeface="+mn-lt"/>
                <a:ea typeface="+mj-ea"/>
                <a:cs typeface="Arial" charset="0"/>
                <a:sym typeface="Arial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0000" y="5014800"/>
            <a:ext cx="8380800" cy="5760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name, if required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49263" y="5679407"/>
            <a:ext cx="8382000" cy="576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Date, if required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00" y="790594"/>
            <a:ext cx="2282400" cy="507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3D349-AF4D-4DC0-9003-CE6EA46A81E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000" y="674186"/>
            <a:ext cx="2287159" cy="62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68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439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317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08633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7630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4119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808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8941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84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5790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8479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281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0000" y="2491199"/>
            <a:ext cx="8380800" cy="2448000"/>
          </a:xfrm>
        </p:spPr>
        <p:txBody>
          <a:bodyPr tIns="46800" anchor="t" anchorCtr="0">
            <a:noAutofit/>
          </a:bodyPr>
          <a:lstStyle>
            <a:lvl1pPr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None/>
              <a:defRPr lang="en-US" sz="5000" b="0" kern="1200" baseline="0" dirty="0">
                <a:solidFill>
                  <a:schemeClr val="accent6"/>
                </a:solidFill>
                <a:latin typeface="+mn-lt"/>
                <a:ea typeface="+mj-ea"/>
                <a:cs typeface="Arial" charset="0"/>
                <a:sym typeface="Arial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0000" y="5014800"/>
            <a:ext cx="8380800" cy="57600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name, if required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449263" y="5679407"/>
            <a:ext cx="8382000" cy="576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Date, if required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00" y="790594"/>
            <a:ext cx="2282400" cy="507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3D349-AF4D-4DC0-9003-CE6EA46A81E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000" y="674186"/>
            <a:ext cx="2287159" cy="62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194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1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6"/>
            <a:ext cx="10972801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208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C047E-1B92-46E0-8182-6549835D1644}" type="datetimeFigureOut">
              <a:rPr lang="en-GB" smtClean="0"/>
              <a:pPr/>
              <a:t>22/10/2025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18007-B178-4796-A578-13C529EEBB0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74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1E3A99"/>
                </a:solidFill>
              </a:rPr>
              <a:t>Page Tables and Virtual Memory Design </a:t>
            </a:r>
            <a:br>
              <a:rPr lang="en-US" dirty="0">
                <a:solidFill>
                  <a:srgbClr val="1E3A99"/>
                </a:solidFill>
              </a:rPr>
            </a:br>
            <a:r>
              <a:rPr lang="en-US" dirty="0">
                <a:solidFill>
                  <a:srgbClr val="1E3A99"/>
                </a:solidFill>
              </a:rPr>
              <a:t>Concepts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101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5951984" y="4293096"/>
            <a:ext cx="792088" cy="2160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Table of a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07568" y="1484784"/>
            <a:ext cx="1296144" cy="46085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279576" y="1556792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79576" y="1988840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279576" y="2420888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79576" y="2852936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279576" y="3284984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79576" y="3717032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279576" y="4149080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79576" y="4581128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279576" y="5589240"/>
            <a:ext cx="1152128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855640" y="5085184"/>
            <a:ext cx="0" cy="43204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Folded Corner 16"/>
          <p:cNvSpPr/>
          <p:nvPr/>
        </p:nvSpPr>
        <p:spPr>
          <a:xfrm>
            <a:off x="2351584" y="2021515"/>
            <a:ext cx="987958" cy="1100002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49330" y="2669587"/>
            <a:ext cx="99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Program</a:t>
            </a:r>
          </a:p>
        </p:txBody>
      </p:sp>
      <p:sp>
        <p:nvSpPr>
          <p:cNvPr id="19" name="Folded Corner 18"/>
          <p:cNvSpPr/>
          <p:nvPr/>
        </p:nvSpPr>
        <p:spPr>
          <a:xfrm>
            <a:off x="2351584" y="3140969"/>
            <a:ext cx="987958" cy="735783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08091" y="3424822"/>
            <a:ext cx="625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</a:t>
            </a:r>
          </a:p>
        </p:txBody>
      </p:sp>
      <p:sp>
        <p:nvSpPr>
          <p:cNvPr id="21" name="Folded Corner 20"/>
          <p:cNvSpPr/>
          <p:nvPr/>
        </p:nvSpPr>
        <p:spPr>
          <a:xfrm>
            <a:off x="2351585" y="5589241"/>
            <a:ext cx="996135" cy="369332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08091" y="558924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Stack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6096000" y="2564904"/>
            <a:ext cx="1368152" cy="1512168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24" name="Rectangle 23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  <a:ln w="3175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691680" y="2348879"/>
              <a:ext cx="894284" cy="1099202"/>
            </a:xfrm>
            <a:prstGeom prst="rect">
              <a:avLst/>
            </a:prstGeom>
            <a:grpFill/>
            <a:ln w="3175" cmpd="sng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Block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951984" y="2420888"/>
            <a:ext cx="1368152" cy="1512168"/>
            <a:chOff x="1475656" y="2204864"/>
            <a:chExt cx="1368152" cy="1512168"/>
          </a:xfrm>
          <a:solidFill>
            <a:schemeClr val="bg1"/>
          </a:solidFill>
        </p:grpSpPr>
        <p:sp>
          <p:nvSpPr>
            <p:cNvPr id="27" name="Rectangle 26"/>
            <p:cNvSpPr/>
            <p:nvPr/>
          </p:nvSpPr>
          <p:spPr>
            <a:xfrm>
              <a:off x="1475656" y="2204864"/>
              <a:ext cx="1368152" cy="1512168"/>
            </a:xfrm>
            <a:prstGeom prst="rect">
              <a:avLst/>
            </a:prstGeom>
            <a:grpFill/>
            <a:ln w="3175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91680" y="2348880"/>
              <a:ext cx="894284" cy="923330"/>
            </a:xfrm>
            <a:prstGeom prst="rect">
              <a:avLst/>
            </a:prstGeom>
            <a:grpFill/>
            <a:ln w="3175" cmpd="sng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Block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807968" y="2276872"/>
            <a:ext cx="1368152" cy="1512168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30" name="Rectangle 29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  <a:ln w="3175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91680" y="2348879"/>
              <a:ext cx="894284" cy="1099202"/>
            </a:xfrm>
            <a:prstGeom prst="rect">
              <a:avLst/>
            </a:prstGeom>
            <a:grpFill/>
            <a:ln w="3175" cmpd="sng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Block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663952" y="2132856"/>
            <a:ext cx="1368152" cy="1440160"/>
            <a:chOff x="1475656" y="2204864"/>
            <a:chExt cx="1368152" cy="1800200"/>
          </a:xfrm>
          <a:solidFill>
            <a:schemeClr val="bg1"/>
          </a:solidFill>
        </p:grpSpPr>
        <p:sp>
          <p:nvSpPr>
            <p:cNvPr id="33" name="Rectangle 32"/>
            <p:cNvSpPr/>
            <p:nvPr/>
          </p:nvSpPr>
          <p:spPr>
            <a:xfrm>
              <a:off x="1475656" y="2204864"/>
              <a:ext cx="1368152" cy="1800200"/>
            </a:xfrm>
            <a:prstGeom prst="rect">
              <a:avLst/>
            </a:prstGeom>
            <a:grpFill/>
            <a:ln w="3175" cmpd="sng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691680" y="2348880"/>
              <a:ext cx="894284" cy="1154163"/>
            </a:xfrm>
            <a:prstGeom prst="rect">
              <a:avLst/>
            </a:prstGeom>
            <a:grpFill/>
            <a:ln w="3175" cmpd="sng"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Process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Control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Block</a:t>
              </a:r>
            </a:p>
          </p:txBody>
        </p:sp>
      </p:grpSp>
      <p:sp>
        <p:nvSpPr>
          <p:cNvPr id="35" name="Rectangle 34"/>
          <p:cNvSpPr/>
          <p:nvPr/>
        </p:nvSpPr>
        <p:spPr>
          <a:xfrm>
            <a:off x="4655840" y="1772816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511824" y="1124745"/>
            <a:ext cx="894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55840" y="1988840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655840" y="2204864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655840" y="2420888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655840" y="2636912"/>
            <a:ext cx="720080" cy="2160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3" name="Shape 42"/>
          <p:cNvCxnSpPr>
            <a:stCxn id="35" idx="3"/>
            <a:endCxn id="33" idx="0"/>
          </p:cNvCxnSpPr>
          <p:nvPr/>
        </p:nvCxnSpPr>
        <p:spPr>
          <a:xfrm>
            <a:off x="5375920" y="1880828"/>
            <a:ext cx="972108" cy="25202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063553" y="6165304"/>
            <a:ext cx="1527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 Image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76320" y="2420888"/>
            <a:ext cx="1296144" cy="3600400"/>
          </a:xfrm>
          <a:prstGeom prst="rect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048328" y="249289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048328" y="285293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9048328" y="321297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048328" y="357301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048328" y="393305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9048328" y="429309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048328" y="4653136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9048328" y="5589240"/>
            <a:ext cx="1152128" cy="360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20336" y="6021288"/>
            <a:ext cx="98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Memory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9624392" y="5085184"/>
            <a:ext cx="0" cy="432048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023992" y="4365104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023992" y="4581128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023992" y="4797152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023992" y="5013176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023992" y="5229200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023992" y="5445224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023992" y="5661248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023992" y="6206681"/>
            <a:ext cx="648072" cy="21602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>
            <a:off x="6240016" y="5949280"/>
            <a:ext cx="0" cy="216024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6312024" y="3573016"/>
            <a:ext cx="0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5807969" y="6381328"/>
            <a:ext cx="1202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Table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919536" y="162880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59496" y="5661248"/>
            <a:ext cx="635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19536" y="198884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19536" y="234888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3952" y="4293096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3952" y="4509120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3952" y="4725144"/>
            <a:ext cx="301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375920" y="6156012"/>
            <a:ext cx="635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MAX</a:t>
            </a:r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3647728" y="4437112"/>
            <a:ext cx="2016224" cy="8640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olded Corner 106"/>
          <p:cNvSpPr/>
          <p:nvPr/>
        </p:nvSpPr>
        <p:spPr>
          <a:xfrm>
            <a:off x="2353838" y="1621704"/>
            <a:ext cx="987958" cy="376429"/>
          </a:xfrm>
          <a:prstGeom prst="foldedCorne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2351584" y="1628800"/>
            <a:ext cx="998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OS Kernel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048328" y="3212976"/>
            <a:ext cx="1152128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9048328" y="4293096"/>
            <a:ext cx="1152128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951985" y="4293097"/>
            <a:ext cx="778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Frame #</a:t>
            </a:r>
          </a:p>
        </p:txBody>
      </p:sp>
      <p:sp>
        <p:nvSpPr>
          <p:cNvPr id="114" name="Right Brace 113"/>
          <p:cNvSpPr/>
          <p:nvPr/>
        </p:nvSpPr>
        <p:spPr>
          <a:xfrm>
            <a:off x="6960096" y="4365104"/>
            <a:ext cx="288032" cy="2088232"/>
          </a:xfrm>
          <a:prstGeom prst="rightBrace">
            <a:avLst/>
          </a:prstGeom>
          <a:ln w="3175" cmpd="sng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248128" y="4797153"/>
            <a:ext cx="11521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Frame # where page is loaded into memory</a:t>
            </a:r>
          </a:p>
        </p:txBody>
      </p:sp>
      <p:cxnSp>
        <p:nvCxnSpPr>
          <p:cNvPr id="117" name="Straight Arrow Connector 116"/>
          <p:cNvCxnSpPr>
            <a:stCxn id="115" idx="3"/>
          </p:cNvCxnSpPr>
          <p:nvPr/>
        </p:nvCxnSpPr>
        <p:spPr>
          <a:xfrm flipV="1">
            <a:off x="8400256" y="4077072"/>
            <a:ext cx="432048" cy="1381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88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Page Table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97152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Size of address space of a process influences the maximum size of the page table</a:t>
            </a:r>
          </a:p>
          <a:p>
            <a:pPr lvl="1"/>
            <a:r>
              <a:rPr lang="en-GB" dirty="0"/>
              <a:t>Can be huge for address spaces 2</a:t>
            </a:r>
            <a:r>
              <a:rPr lang="en-GB" baseline="30000" dirty="0"/>
              <a:t>32</a:t>
            </a:r>
            <a:r>
              <a:rPr lang="en-GB" dirty="0"/>
              <a:t> (4GByte) or 2</a:t>
            </a:r>
            <a:r>
              <a:rPr lang="en-GB" baseline="30000" dirty="0"/>
              <a:t>64</a:t>
            </a:r>
            <a:r>
              <a:rPr lang="en-GB" dirty="0"/>
              <a:t> (16 </a:t>
            </a:r>
            <a:r>
              <a:rPr lang="en-GB" dirty="0" err="1"/>
              <a:t>Exabytes</a:t>
            </a:r>
            <a:r>
              <a:rPr lang="en-GB" dirty="0"/>
              <a:t>!)</a:t>
            </a:r>
          </a:p>
          <a:p>
            <a:pPr lvl="1"/>
            <a:r>
              <a:rPr lang="en-GB" dirty="0"/>
              <a:t>Example:</a:t>
            </a:r>
          </a:p>
          <a:p>
            <a:pPr lvl="2"/>
            <a:r>
              <a:rPr lang="en-GB" dirty="0"/>
              <a:t>Address space: 32-bit logical address space, 4GB</a:t>
            </a:r>
          </a:p>
          <a:p>
            <a:pPr lvl="2"/>
            <a:r>
              <a:rPr lang="en-GB" dirty="0"/>
              <a:t>Page size: 4kb (2</a:t>
            </a:r>
            <a:r>
              <a:rPr lang="en-GB" baseline="30000" dirty="0"/>
              <a:t>12</a:t>
            </a:r>
            <a:r>
              <a:rPr lang="en-GB" dirty="0"/>
              <a:t>), address space is composed of 2</a:t>
            </a:r>
            <a:r>
              <a:rPr lang="en-GB" baseline="30000" dirty="0"/>
              <a:t>20</a:t>
            </a:r>
            <a:r>
              <a:rPr lang="en-GB" dirty="0"/>
              <a:t>  (2</a:t>
            </a:r>
            <a:r>
              <a:rPr lang="en-GB" baseline="30000" dirty="0"/>
              <a:t>32 </a:t>
            </a:r>
            <a:r>
              <a:rPr lang="en-GB" dirty="0"/>
              <a:t>/ 2</a:t>
            </a:r>
            <a:r>
              <a:rPr lang="en-GB" baseline="30000" dirty="0"/>
              <a:t>12</a:t>
            </a:r>
            <a:r>
              <a:rPr lang="en-GB" dirty="0"/>
              <a:t>) pages (1 Mio)</a:t>
            </a:r>
          </a:p>
          <a:p>
            <a:pPr lvl="2"/>
            <a:r>
              <a:rPr lang="en-GB" dirty="0"/>
              <a:t>page table must allow 1 Mio entries (as many as the process requires)</a:t>
            </a:r>
          </a:p>
          <a:p>
            <a:pPr lvl="2"/>
            <a:r>
              <a:rPr lang="en-GB" dirty="0"/>
              <a:t>If each entry in page table is 4 bytes (32-bit), then we may need 4MB of physical memory just to hold this page table !</a:t>
            </a:r>
          </a:p>
          <a:p>
            <a:r>
              <a:rPr lang="en-GB" dirty="0"/>
              <a:t>We many not be able to allocate a contiguous area of physical memory</a:t>
            </a:r>
          </a:p>
          <a:p>
            <a:r>
              <a:rPr lang="en-GB" dirty="0"/>
              <a:t>The page table itself may be subject to paging</a:t>
            </a:r>
          </a:p>
        </p:txBody>
      </p:sp>
    </p:spTree>
    <p:extLst>
      <p:ext uri="{BB962C8B-B14F-4D97-AF65-F5344CB8AC3E}">
        <p14:creationId xmlns:p14="http://schemas.microsoft.com/office/powerpoint/2010/main" val="3437116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Problems with Page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53136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Page tables can become very large.</a:t>
            </a:r>
          </a:p>
          <a:p>
            <a:r>
              <a:rPr lang="en-GB" dirty="0"/>
              <a:t>One option could be:</a:t>
            </a:r>
          </a:p>
          <a:p>
            <a:pPr lvl="1"/>
            <a:r>
              <a:rPr lang="en-GB" dirty="0"/>
              <a:t>Page tables themselves are held in virtual memory and are subject to paging</a:t>
            </a:r>
          </a:p>
          <a:p>
            <a:pPr lvl="1"/>
            <a:r>
              <a:rPr lang="en-GB" dirty="0"/>
              <a:t>When a process is executing, those parts that are currently needed have to be in memory</a:t>
            </a:r>
          </a:p>
          <a:p>
            <a:pPr lvl="2"/>
            <a:r>
              <a:rPr lang="en-GB" dirty="0"/>
              <a:t>Which part of the page table?</a:t>
            </a:r>
          </a:p>
          <a:p>
            <a:pPr lvl="1"/>
            <a:r>
              <a:rPr lang="en-GB" dirty="0"/>
              <a:t>Possibly two page faults: reference to page not in memory, reference to page table part not in memory</a:t>
            </a:r>
          </a:p>
          <a:p>
            <a:r>
              <a:rPr lang="en-GB" dirty="0"/>
              <a:t>Used Approaches</a:t>
            </a:r>
          </a:p>
          <a:p>
            <a:pPr lvl="1"/>
            <a:r>
              <a:rPr lang="en-GB" dirty="0"/>
              <a:t>Hierarchical page tables</a:t>
            </a:r>
          </a:p>
          <a:p>
            <a:pPr lvl="1"/>
            <a:r>
              <a:rPr lang="en-GB" dirty="0"/>
              <a:t>Inverted page tables</a:t>
            </a:r>
          </a:p>
          <a:p>
            <a:pPr lvl="1"/>
            <a:r>
              <a:rPr lang="en-GB" dirty="0"/>
              <a:t>Hashed page tables</a:t>
            </a:r>
          </a:p>
          <a:p>
            <a:pPr lvl="1"/>
            <a:r>
              <a:rPr lang="en-GB" dirty="0"/>
              <a:t>Hardware solution: use of associative memory to cache page table</a:t>
            </a:r>
          </a:p>
        </p:txBody>
      </p:sp>
    </p:spTree>
    <p:extLst>
      <p:ext uri="{BB962C8B-B14F-4D97-AF65-F5344CB8AC3E}">
        <p14:creationId xmlns:p14="http://schemas.microsoft.com/office/powerpoint/2010/main" val="130534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Page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2"/>
            <a:ext cx="8229600" cy="2044823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Multilevel Page Table</a:t>
            </a:r>
          </a:p>
          <a:p>
            <a:pPr lvl="1"/>
            <a:r>
              <a:rPr lang="en-GB" dirty="0"/>
              <a:t>Page table may not fit into a single page, may occupy multiple pages itself</a:t>
            </a:r>
          </a:p>
          <a:p>
            <a:pPr lvl="2"/>
            <a:r>
              <a:rPr lang="en-GB" dirty="0"/>
              <a:t>Create hierarchy of sub-tables</a:t>
            </a:r>
          </a:p>
          <a:p>
            <a:pPr lvl="1"/>
            <a:r>
              <a:rPr lang="en-GB" dirty="0"/>
              <a:t>Extra page faults to load pages that contain page table information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pic>
        <p:nvPicPr>
          <p:cNvPr id="4" name="Content Placeholder 3" descr="Fig08_04.gif"/>
          <p:cNvPicPr>
            <a:picLocks noChangeAspect="1"/>
          </p:cNvPicPr>
          <p:nvPr/>
        </p:nvPicPr>
        <p:blipFill>
          <a:blip r:embed="rId2" cstate="print"/>
          <a:srcRect l="-2946" t="3185" r="-2946" b="21810"/>
          <a:stretch>
            <a:fillRect/>
          </a:stretch>
        </p:blipFill>
        <p:spPr>
          <a:xfrm>
            <a:off x="2711624" y="3645024"/>
            <a:ext cx="619760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17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Page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334096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If we assume a hierarchy of two tables:</a:t>
            </a:r>
          </a:p>
          <a:p>
            <a:pPr lvl="1"/>
            <a:r>
              <a:rPr lang="en-GB" dirty="0"/>
              <a:t>Virtual address split into three parts</a:t>
            </a:r>
          </a:p>
          <a:p>
            <a:pPr lvl="2"/>
            <a:r>
              <a:rPr lang="en-GB" dirty="0"/>
              <a:t>Root table index</a:t>
            </a:r>
          </a:p>
          <a:p>
            <a:pPr lvl="2"/>
            <a:r>
              <a:rPr lang="en-GB" dirty="0"/>
              <a:t>Page table index</a:t>
            </a:r>
          </a:p>
          <a:p>
            <a:pPr lvl="2"/>
            <a:r>
              <a:rPr lang="en-GB" dirty="0"/>
              <a:t>Page offset</a:t>
            </a:r>
          </a:p>
          <a:p>
            <a:r>
              <a:rPr lang="en-GB" dirty="0"/>
              <a:t>Consider a 32-bit memory address</a:t>
            </a:r>
          </a:p>
          <a:p>
            <a:pPr lvl="1"/>
            <a:r>
              <a:rPr lang="en-GB" dirty="0"/>
              <a:t>10 bits for root table: has 2</a:t>
            </a:r>
            <a:r>
              <a:rPr lang="en-GB" baseline="30000" dirty="0"/>
              <a:t>10</a:t>
            </a:r>
            <a:r>
              <a:rPr lang="en-GB" dirty="0"/>
              <a:t> = 1024 entries</a:t>
            </a:r>
          </a:p>
          <a:p>
            <a:pPr lvl="1"/>
            <a:r>
              <a:rPr lang="en-GB" dirty="0"/>
              <a:t>10 bits for page table: has 2</a:t>
            </a:r>
            <a:r>
              <a:rPr lang="en-GB" baseline="30000" dirty="0"/>
              <a:t>10</a:t>
            </a:r>
            <a:r>
              <a:rPr lang="en-GB" dirty="0"/>
              <a:t> = 1024 entries</a:t>
            </a:r>
          </a:p>
          <a:p>
            <a:pPr lvl="1"/>
            <a:r>
              <a:rPr lang="en-GB" dirty="0"/>
              <a:t>4kB per page: we need 12 bits (2</a:t>
            </a:r>
            <a:r>
              <a:rPr lang="en-GB" baseline="30000" dirty="0"/>
              <a:t>12</a:t>
            </a:r>
            <a:r>
              <a:rPr lang="en-GB" dirty="0"/>
              <a:t> = 4096) to address a location within the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032104" y="5517232"/>
            <a:ext cx="1800200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 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20137" y="5013176"/>
            <a:ext cx="1222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offset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9816" y="5517232"/>
            <a:ext cx="129614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35960" y="5517232"/>
            <a:ext cx="129614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9857" y="5805265"/>
            <a:ext cx="6384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Root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1985" y="5805265"/>
            <a:ext cx="10480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table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9537" y="5445224"/>
            <a:ext cx="2502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32-bit Virtual Address</a:t>
            </a:r>
          </a:p>
        </p:txBody>
      </p:sp>
    </p:spTree>
    <p:extLst>
      <p:ext uri="{BB962C8B-B14F-4D97-AF65-F5344CB8AC3E}">
        <p14:creationId xmlns:p14="http://schemas.microsoft.com/office/powerpoint/2010/main" val="4169139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Hierarchical Page Table</a:t>
            </a:r>
            <a:br>
              <a:rPr lang="en-GB" dirty="0"/>
            </a:br>
            <a:r>
              <a:rPr lang="en-GB" sz="2200" dirty="0"/>
              <a:t>Address Translation</a:t>
            </a:r>
            <a:endParaRPr lang="en-GB" dirty="0"/>
          </a:p>
        </p:txBody>
      </p:sp>
      <p:pic>
        <p:nvPicPr>
          <p:cNvPr id="4" name="Content Placeholder 3" descr="Fig08_05.gif"/>
          <p:cNvPicPr>
            <a:picLocks noChangeAspect="1"/>
          </p:cNvPicPr>
          <p:nvPr/>
        </p:nvPicPr>
        <p:blipFill rotWithShape="1">
          <a:blip r:embed="rId2" cstate="print"/>
          <a:srcRect l="217" r="-1589" b="11703"/>
          <a:stretch/>
        </p:blipFill>
        <p:spPr>
          <a:xfrm>
            <a:off x="1796236" y="1384320"/>
            <a:ext cx="8692252" cy="528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922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Inverted Page Table</a:t>
            </a:r>
            <a:endParaRPr lang="en-GB"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84784"/>
            <a:ext cx="8229600" cy="5256584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An inverted page table has one entry per memory </a:t>
            </a:r>
            <a:r>
              <a:rPr lang="en-GB" b="1" dirty="0"/>
              <a:t>frame</a:t>
            </a:r>
          </a:p>
          <a:p>
            <a:pPr lvl="1"/>
            <a:r>
              <a:rPr lang="en-GB" dirty="0"/>
              <a:t>Depends only on physical memory size</a:t>
            </a:r>
          </a:p>
          <a:p>
            <a:pPr lvl="1"/>
            <a:r>
              <a:rPr lang="en-GB" dirty="0"/>
              <a:t>For physical memory with 2</a:t>
            </a:r>
            <a:r>
              <a:rPr lang="en-GB" baseline="30000" dirty="0"/>
              <a:t>m </a:t>
            </a:r>
            <a:r>
              <a:rPr lang="en-GB" dirty="0"/>
              <a:t>frames , table is of size 2</a:t>
            </a:r>
            <a:r>
              <a:rPr lang="en-GB" baseline="30000" dirty="0"/>
              <a:t>m</a:t>
            </a:r>
            <a:r>
              <a:rPr lang="en-GB" dirty="0"/>
              <a:t>, </a:t>
            </a:r>
            <a:r>
              <a:rPr lang="en-GB" dirty="0" err="1"/>
              <a:t>i</a:t>
            </a:r>
            <a:r>
              <a:rPr lang="en-GB" baseline="30000" dirty="0" err="1"/>
              <a:t>th</a:t>
            </a:r>
            <a:r>
              <a:rPr lang="en-GB" dirty="0"/>
              <a:t> entry refers to frame </a:t>
            </a:r>
            <a:r>
              <a:rPr lang="en-GB" dirty="0" err="1"/>
              <a:t>i</a:t>
            </a:r>
            <a:endParaRPr lang="en-GB" dirty="0"/>
          </a:p>
          <a:p>
            <a:r>
              <a:rPr lang="en-GB" dirty="0"/>
              <a:t>Only one page (frame) table for all processes</a:t>
            </a:r>
          </a:p>
          <a:p>
            <a:pPr lvl="1"/>
            <a:r>
              <a:rPr lang="en-GB" dirty="0"/>
              <a:t>Has a fixed size, size of physical memory is known at </a:t>
            </a:r>
            <a:r>
              <a:rPr lang="en-GB" dirty="0" err="1"/>
              <a:t>startup</a:t>
            </a:r>
            <a:r>
              <a:rPr lang="en-GB" dirty="0"/>
              <a:t> of system</a:t>
            </a:r>
          </a:p>
          <a:p>
            <a:r>
              <a:rPr lang="en-GB" dirty="0"/>
              <a:t>Table entry records</a:t>
            </a:r>
          </a:p>
          <a:p>
            <a:pPr lvl="1"/>
            <a:r>
              <a:rPr lang="en-GB" dirty="0"/>
              <a:t>Process ID, Page number, Offset</a:t>
            </a:r>
          </a:p>
          <a:p>
            <a:r>
              <a:rPr lang="en-GB" dirty="0"/>
              <a:t>Table is a hash table</a:t>
            </a:r>
          </a:p>
          <a:p>
            <a:pPr lvl="1"/>
            <a:r>
              <a:rPr lang="en-GB" dirty="0"/>
              <a:t>Calculate hash value from page number</a:t>
            </a:r>
          </a:p>
          <a:p>
            <a:pPr lvl="1"/>
            <a:r>
              <a:rPr lang="en-GB" dirty="0"/>
              <a:t>Hash value is index into page table, compare process id and page number, follow collision chain until match</a:t>
            </a:r>
          </a:p>
          <a:p>
            <a:pPr lvl="1"/>
            <a:r>
              <a:rPr lang="en-GB" dirty="0"/>
              <a:t>Index of found entry is the required frame number</a:t>
            </a:r>
          </a:p>
        </p:txBody>
      </p:sp>
    </p:spTree>
    <p:extLst>
      <p:ext uri="{BB962C8B-B14F-4D97-AF65-F5344CB8AC3E}">
        <p14:creationId xmlns:p14="http://schemas.microsoft.com/office/powerpoint/2010/main" val="1482919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Inverted Page Table</a:t>
            </a:r>
          </a:p>
        </p:txBody>
      </p:sp>
      <p:pic>
        <p:nvPicPr>
          <p:cNvPr id="4" name="Content Placeholder 3" descr="Fig08_06.gif"/>
          <p:cNvPicPr>
            <a:picLocks noChangeAspect="1"/>
          </p:cNvPicPr>
          <p:nvPr/>
        </p:nvPicPr>
        <p:blipFill rotWithShape="1">
          <a:blip r:embed="rId2" cstate="print"/>
          <a:srcRect l="-42" t="1895" r="726" b="10413"/>
          <a:stretch/>
        </p:blipFill>
        <p:spPr>
          <a:xfrm>
            <a:off x="2279576" y="1165848"/>
            <a:ext cx="7632848" cy="5503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68208" y="2852937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Hash Collision Chain</a:t>
            </a:r>
          </a:p>
        </p:txBody>
      </p:sp>
    </p:spTree>
    <p:extLst>
      <p:ext uri="{BB962C8B-B14F-4D97-AF65-F5344CB8AC3E}">
        <p14:creationId xmlns:p14="http://schemas.microsoft.com/office/powerpoint/2010/main" val="3541874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TLB Translation </a:t>
            </a:r>
            <a:r>
              <a:rPr lang="en-GB" dirty="0" err="1"/>
              <a:t>Lookaside</a:t>
            </a:r>
            <a:r>
              <a:rPr lang="en-GB" dirty="0"/>
              <a:t> Buffer</a:t>
            </a:r>
            <a:br>
              <a:rPr lang="en-GB" dirty="0"/>
            </a:br>
            <a:r>
              <a:rPr lang="en-GB" sz="3600" dirty="0"/>
              <a:t>Paging Hardware Support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Problem with page table in main memory</a:t>
            </a:r>
          </a:p>
          <a:p>
            <a:pPr lvl="1"/>
            <a:r>
              <a:rPr lang="en-GB" dirty="0"/>
              <a:t>In order to access a particular physical memory location, processor has to access memory twice</a:t>
            </a:r>
          </a:p>
          <a:p>
            <a:pPr lvl="2"/>
            <a:r>
              <a:rPr lang="en-GB" dirty="0"/>
              <a:t>First, access page table via the page table base register to get the frame address</a:t>
            </a:r>
          </a:p>
          <a:p>
            <a:pPr lvl="2"/>
            <a:r>
              <a:rPr lang="en-GB" dirty="0"/>
              <a:t>Second, calculate the actual physical address and access physical memory location (load or store data)</a:t>
            </a:r>
          </a:p>
          <a:p>
            <a:pPr lvl="1"/>
            <a:r>
              <a:rPr lang="en-GB" dirty="0"/>
              <a:t>Memory access slows down 50% !</a:t>
            </a:r>
          </a:p>
          <a:p>
            <a:r>
              <a:rPr lang="en-GB" dirty="0"/>
              <a:t>Standard solution</a:t>
            </a:r>
          </a:p>
          <a:p>
            <a:pPr lvl="1"/>
            <a:r>
              <a:rPr lang="en-GB" dirty="0"/>
              <a:t>Translation Look-aside Buffer (TLB): special small and fast-lookup hardware cache</a:t>
            </a:r>
          </a:p>
        </p:txBody>
      </p:sp>
    </p:spTree>
    <p:extLst>
      <p:ext uri="{BB962C8B-B14F-4D97-AF65-F5344CB8AC3E}">
        <p14:creationId xmlns:p14="http://schemas.microsoft.com/office/powerpoint/2010/main" val="1719858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TLB Translation </a:t>
            </a:r>
            <a:r>
              <a:rPr lang="en-GB" dirty="0" err="1"/>
              <a:t>Lookaside</a:t>
            </a:r>
            <a:r>
              <a:rPr lang="en-GB" dirty="0"/>
              <a:t> Buffer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Translation Look-aside Buffer (TLB): </a:t>
            </a:r>
          </a:p>
          <a:p>
            <a:pPr lvl="1"/>
            <a:r>
              <a:rPr lang="en-GB" dirty="0"/>
              <a:t>special small and fast-lookup hardware cache</a:t>
            </a:r>
          </a:p>
          <a:p>
            <a:pPr lvl="1"/>
            <a:r>
              <a:rPr lang="en-GB" dirty="0"/>
              <a:t>Is special associative cache memory</a:t>
            </a:r>
          </a:p>
          <a:p>
            <a:pPr lvl="1"/>
            <a:r>
              <a:rPr lang="en-GB" dirty="0"/>
              <a:t>Is associative memory, holds part of the page table (those pages the processor will access “most likely”)</a:t>
            </a:r>
          </a:p>
          <a:p>
            <a:pPr lvl="1"/>
            <a:r>
              <a:rPr lang="en-GB" dirty="0"/>
              <a:t>Has to be reset and reloaded at each context switch</a:t>
            </a:r>
          </a:p>
        </p:txBody>
      </p:sp>
    </p:spTree>
    <p:extLst>
      <p:ext uri="{BB962C8B-B14F-4D97-AF65-F5344CB8AC3E}">
        <p14:creationId xmlns:p14="http://schemas.microsoft.com/office/powerpoint/2010/main" val="145115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Translation </a:t>
            </a:r>
            <a:r>
              <a:rPr lang="en-GB" dirty="0" err="1"/>
              <a:t>Lookaside</a:t>
            </a:r>
            <a:r>
              <a:rPr lang="en-GB" dirty="0"/>
              <a:t> Buffer (TLB)</a:t>
            </a:r>
          </a:p>
        </p:txBody>
      </p:sp>
      <p:sp>
        <p:nvSpPr>
          <p:cNvPr id="4" name="Rectangle 3"/>
          <p:cNvSpPr/>
          <p:nvPr/>
        </p:nvSpPr>
        <p:spPr>
          <a:xfrm>
            <a:off x="3431704" y="1772816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7768" y="1772816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</a:p>
        </p:txBody>
      </p:sp>
      <p:sp>
        <p:nvSpPr>
          <p:cNvPr id="8" name="Rectangle 7"/>
          <p:cNvSpPr/>
          <p:nvPr/>
        </p:nvSpPr>
        <p:spPr>
          <a:xfrm>
            <a:off x="7104112" y="3933056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176" y="3933056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5800" y="4005064"/>
            <a:ext cx="720080" cy="6480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95800" y="4653136"/>
            <a:ext cx="720080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4655840" y="4149080"/>
            <a:ext cx="0" cy="36004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295800" y="4941168"/>
            <a:ext cx="720080" cy="64807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4655840" y="5085184"/>
            <a:ext cx="0" cy="36004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Left Brace 17"/>
          <p:cNvSpPr/>
          <p:nvPr/>
        </p:nvSpPr>
        <p:spPr>
          <a:xfrm>
            <a:off x="4079776" y="4005064"/>
            <a:ext cx="144016" cy="64807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91744" y="41397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1704" y="1124745"/>
            <a:ext cx="8504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Logical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2144" y="4221089"/>
            <a:ext cx="8504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Physical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3753" y="5587500"/>
            <a:ext cx="18001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Table of running Process</a:t>
            </a:r>
          </a:p>
        </p:txBody>
      </p:sp>
      <p:sp>
        <p:nvSpPr>
          <p:cNvPr id="25" name="Oval 24"/>
          <p:cNvSpPr/>
          <p:nvPr/>
        </p:nvSpPr>
        <p:spPr>
          <a:xfrm>
            <a:off x="3503712" y="3769295"/>
            <a:ext cx="288032" cy="288032"/>
          </a:xfrm>
          <a:prstGeom prst="ellipse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647728" y="2132856"/>
            <a:ext cx="0" cy="15841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hape 26"/>
          <p:cNvCxnSpPr>
            <a:stCxn id="25" idx="4"/>
            <a:endCxn id="13" idx="1"/>
          </p:cNvCxnSpPr>
          <p:nvPr/>
        </p:nvCxnSpPr>
        <p:spPr>
          <a:xfrm rot="16200000" flipH="1">
            <a:off x="3601853" y="4103203"/>
            <a:ext cx="739825" cy="64807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5447928" y="2636912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23992" y="2636912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47928" y="2348880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023992" y="2348880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47928" y="2060848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023992" y="2060848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447928" y="2924944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023992" y="2924944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47928" y="3212976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023992" y="3212976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447928" y="3501008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023992" y="3501008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1" name="Straight Arrow Connector 60"/>
          <p:cNvCxnSpPr>
            <a:endCxn id="49" idx="1"/>
          </p:cNvCxnSpPr>
          <p:nvPr/>
        </p:nvCxnSpPr>
        <p:spPr>
          <a:xfrm>
            <a:off x="5231904" y="2204864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5231904" y="2492896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5231904" y="2780928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5231904" y="3068960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5231904" y="335699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5231904" y="3645024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5231904" y="2204864"/>
            <a:ext cx="0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3863752" y="2132856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hape 79"/>
          <p:cNvCxnSpPr>
            <a:stCxn id="44" idx="3"/>
            <a:endCxn id="8" idx="0"/>
          </p:cNvCxnSpPr>
          <p:nvPr/>
        </p:nvCxnSpPr>
        <p:spPr>
          <a:xfrm>
            <a:off x="6600056" y="2780928"/>
            <a:ext cx="792088" cy="115212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hape 81"/>
          <p:cNvCxnSpPr>
            <a:stCxn id="13" idx="3"/>
            <a:endCxn id="8" idx="2"/>
          </p:cNvCxnSpPr>
          <p:nvPr/>
        </p:nvCxnSpPr>
        <p:spPr>
          <a:xfrm flipV="1">
            <a:off x="5015880" y="4221088"/>
            <a:ext cx="2376264" cy="57606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/>
          <p:cNvCxnSpPr>
            <a:stCxn id="5" idx="0"/>
            <a:endCxn id="9" idx="0"/>
          </p:cNvCxnSpPr>
          <p:nvPr/>
        </p:nvCxnSpPr>
        <p:spPr>
          <a:xfrm rot="16200000" flipH="1">
            <a:off x="5051884" y="1016732"/>
            <a:ext cx="2160240" cy="3672408"/>
          </a:xfrm>
          <a:prstGeom prst="bentConnector3">
            <a:avLst>
              <a:gd name="adj1" fmla="val -1058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2063552" y="3769295"/>
            <a:ext cx="576064" cy="2880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063553" y="3769296"/>
            <a:ext cx="5704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PTBR</a:t>
            </a:r>
          </a:p>
        </p:txBody>
      </p:sp>
      <p:cxnSp>
        <p:nvCxnSpPr>
          <p:cNvPr id="87" name="Straight Arrow Connector 86"/>
          <p:cNvCxnSpPr>
            <a:stCxn id="85" idx="3"/>
          </p:cNvCxnSpPr>
          <p:nvPr/>
        </p:nvCxnSpPr>
        <p:spPr>
          <a:xfrm>
            <a:off x="2639616" y="3913311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1703512" y="4077073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Page Table Base Register</a:t>
            </a:r>
          </a:p>
        </p:txBody>
      </p:sp>
      <p:cxnSp>
        <p:nvCxnSpPr>
          <p:cNvPr id="90" name="Straight Arrow Connector 89"/>
          <p:cNvCxnSpPr/>
          <p:nvPr/>
        </p:nvCxnSpPr>
        <p:spPr>
          <a:xfrm>
            <a:off x="3863752" y="2924944"/>
            <a:ext cx="13681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8976320" y="2420888"/>
            <a:ext cx="1224136" cy="11521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8976320" y="3573016"/>
            <a:ext cx="1224136" cy="11521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8976320" y="4725144"/>
            <a:ext cx="1224136" cy="11521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9120337" y="5877273"/>
            <a:ext cx="9889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Physical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Memory</a:t>
            </a:r>
          </a:p>
        </p:txBody>
      </p:sp>
      <p:sp>
        <p:nvSpPr>
          <p:cNvPr id="96" name="Left Brace 95"/>
          <p:cNvSpPr/>
          <p:nvPr/>
        </p:nvSpPr>
        <p:spPr>
          <a:xfrm>
            <a:off x="8760296" y="2420888"/>
            <a:ext cx="144016" cy="115212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544272" y="2780928"/>
            <a:ext cx="2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</a:p>
        </p:txBody>
      </p:sp>
      <p:cxnSp>
        <p:nvCxnSpPr>
          <p:cNvPr id="99" name="Straight Arrow Connector 98"/>
          <p:cNvCxnSpPr>
            <a:stCxn id="9" idx="3"/>
          </p:cNvCxnSpPr>
          <p:nvPr/>
        </p:nvCxnSpPr>
        <p:spPr>
          <a:xfrm>
            <a:off x="8256240" y="4077072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6672065" y="2492896"/>
            <a:ext cx="7649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TLB hit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59697" y="4797152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TLB miss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063552" y="1556792"/>
            <a:ext cx="720080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CPU</a:t>
            </a:r>
          </a:p>
        </p:txBody>
      </p:sp>
      <p:cxnSp>
        <p:nvCxnSpPr>
          <p:cNvPr id="103" name="Straight Arrow Connector 102"/>
          <p:cNvCxnSpPr/>
          <p:nvPr/>
        </p:nvCxnSpPr>
        <p:spPr>
          <a:xfrm>
            <a:off x="2783632" y="1916832"/>
            <a:ext cx="6480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5735960" y="3861048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TLB</a:t>
            </a:r>
          </a:p>
        </p:txBody>
      </p:sp>
      <p:sp>
        <p:nvSpPr>
          <p:cNvPr id="105" name="Right Brace 104"/>
          <p:cNvSpPr/>
          <p:nvPr/>
        </p:nvSpPr>
        <p:spPr>
          <a:xfrm>
            <a:off x="8976320" y="3573016"/>
            <a:ext cx="144016" cy="50405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9101874" y="364502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76568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Translation </a:t>
            </a:r>
            <a:r>
              <a:rPr lang="en-GB" dirty="0" err="1"/>
              <a:t>Lookaside</a:t>
            </a:r>
            <a:r>
              <a:rPr lang="en-GB" dirty="0"/>
              <a:t> Buffer (TLB)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853136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Using the TLB</a:t>
            </a:r>
          </a:p>
          <a:p>
            <a:pPr lvl="1"/>
            <a:r>
              <a:rPr lang="en-GB" dirty="0"/>
              <a:t>CPU generates logical address</a:t>
            </a:r>
          </a:p>
          <a:p>
            <a:pPr lvl="1"/>
            <a:r>
              <a:rPr lang="en-GB" dirty="0"/>
              <a:t>“</a:t>
            </a:r>
            <a:r>
              <a:rPr lang="en-GB" b="1" dirty="0"/>
              <a:t>TLB hit</a:t>
            </a:r>
            <a:r>
              <a:rPr lang="en-GB" dirty="0"/>
              <a:t>”: If lookup of page number in TLB is successful:</a:t>
            </a:r>
          </a:p>
          <a:p>
            <a:pPr lvl="2"/>
            <a:r>
              <a:rPr lang="en-GB" dirty="0"/>
              <a:t>very fast lookup of corresponding frame number</a:t>
            </a:r>
          </a:p>
          <a:p>
            <a:pPr lvl="1"/>
            <a:r>
              <a:rPr lang="en-GB" dirty="0"/>
              <a:t>“</a:t>
            </a:r>
            <a:r>
              <a:rPr lang="en-GB" b="1" dirty="0"/>
              <a:t>TLB miss</a:t>
            </a:r>
            <a:r>
              <a:rPr lang="en-GB" dirty="0"/>
              <a:t>”: If lookup of page number in TLB is not successful:</a:t>
            </a:r>
          </a:p>
          <a:p>
            <a:pPr lvl="2"/>
            <a:r>
              <a:rPr lang="en-GB" dirty="0"/>
              <a:t>find frame number in page table, slow lookup of frame numbers</a:t>
            </a:r>
          </a:p>
          <a:p>
            <a:pPr lvl="2"/>
            <a:r>
              <a:rPr lang="en-GB" dirty="0"/>
              <a:t>Page number and found frame are added to the TLB (potentially replacing other entries according to a replacement policy)</a:t>
            </a:r>
          </a:p>
          <a:p>
            <a:r>
              <a:rPr lang="en-GB" dirty="0"/>
              <a:t>TLB must be loaded with process-specific page table entries at each context switch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09566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811</Words>
  <Application>Microsoft Office PowerPoint</Application>
  <PresentationFormat>Widescreen</PresentationFormat>
  <Paragraphs>144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2_Office Theme</vt:lpstr>
      <vt:lpstr>1_Office Theme</vt:lpstr>
      <vt:lpstr>Page Tables and Virtual Memory Design  Concepts</vt:lpstr>
      <vt:lpstr>Page Table of a process</vt:lpstr>
      <vt:lpstr>Page Table Management</vt:lpstr>
      <vt:lpstr>Problems with Page Tables</vt:lpstr>
      <vt:lpstr>Hierarchical Page Tables</vt:lpstr>
      <vt:lpstr>Hierarchical Page Tables</vt:lpstr>
      <vt:lpstr>Hierarchical Page Table Address Translation</vt:lpstr>
      <vt:lpstr>Inverted Page Table</vt:lpstr>
      <vt:lpstr>Inverted Page Table</vt:lpstr>
      <vt:lpstr>TLB Translation Lookaside Buffer Paging Hardware Support</vt:lpstr>
      <vt:lpstr>TLB Translation Lookaside Buffer</vt:lpstr>
      <vt:lpstr>Translation Lookaside Buffer (TLB)</vt:lpstr>
      <vt:lpstr>Translation Lookaside Buffer (TLB)</vt:lpstr>
    </vt:vector>
  </TitlesOfParts>
  <Company>University of Aberdeen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Ciocarlan, Ana</dc:creator>
  <cp:lastModifiedBy>Ciocarlan, Ana</cp:lastModifiedBy>
  <cp:revision>1</cp:revision>
  <dcterms:created xsi:type="dcterms:W3CDTF">2025-10-22T15:04:52Z</dcterms:created>
  <dcterms:modified xsi:type="dcterms:W3CDTF">2025-10-22T15:07:34Z</dcterms:modified>
</cp:coreProperties>
</file>