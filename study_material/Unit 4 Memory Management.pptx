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3" r:id="rId5"/>
  </p:sldMasterIdLst>
  <p:notesMasterIdLst>
    <p:notesMasterId r:id="rId68"/>
  </p:notesMasterIdLst>
  <p:sldIdLst>
    <p:sldId id="279" r:id="rId6"/>
    <p:sldId id="449" r:id="rId7"/>
    <p:sldId id="451" r:id="rId8"/>
    <p:sldId id="452" r:id="rId9"/>
    <p:sldId id="453" r:id="rId10"/>
    <p:sldId id="473" r:id="rId11"/>
    <p:sldId id="302" r:id="rId12"/>
    <p:sldId id="474" r:id="rId13"/>
    <p:sldId id="475" r:id="rId14"/>
    <p:sldId id="457" r:id="rId15"/>
    <p:sldId id="469" r:id="rId16"/>
    <p:sldId id="458" r:id="rId17"/>
    <p:sldId id="459" r:id="rId18"/>
    <p:sldId id="304" r:id="rId19"/>
    <p:sldId id="315" r:id="rId20"/>
    <p:sldId id="471" r:id="rId21"/>
    <p:sldId id="490" r:id="rId22"/>
    <p:sldId id="470" r:id="rId23"/>
    <p:sldId id="485" r:id="rId24"/>
    <p:sldId id="472" r:id="rId25"/>
    <p:sldId id="462" r:id="rId26"/>
    <p:sldId id="463" r:id="rId27"/>
    <p:sldId id="464" r:id="rId28"/>
    <p:sldId id="465" r:id="rId29"/>
    <p:sldId id="468" r:id="rId30"/>
    <p:sldId id="466" r:id="rId31"/>
    <p:sldId id="476" r:id="rId32"/>
    <p:sldId id="478" r:id="rId33"/>
    <p:sldId id="479" r:id="rId34"/>
    <p:sldId id="480" r:id="rId35"/>
    <p:sldId id="481" r:id="rId36"/>
    <p:sldId id="482" r:id="rId37"/>
    <p:sldId id="483" r:id="rId38"/>
    <p:sldId id="484" r:id="rId39"/>
    <p:sldId id="511" r:id="rId40"/>
    <p:sldId id="512" r:id="rId41"/>
    <p:sldId id="513" r:id="rId42"/>
    <p:sldId id="514" r:id="rId43"/>
    <p:sldId id="515" r:id="rId44"/>
    <p:sldId id="516" r:id="rId45"/>
    <p:sldId id="517" r:id="rId46"/>
    <p:sldId id="261" r:id="rId47"/>
    <p:sldId id="291" r:id="rId48"/>
    <p:sldId id="331" r:id="rId49"/>
    <p:sldId id="492" r:id="rId50"/>
    <p:sldId id="450" r:id="rId51"/>
    <p:sldId id="493" r:id="rId52"/>
    <p:sldId id="477" r:id="rId53"/>
    <p:sldId id="494" r:id="rId54"/>
    <p:sldId id="496" r:id="rId55"/>
    <p:sldId id="420" r:id="rId56"/>
    <p:sldId id="447" r:id="rId57"/>
    <p:sldId id="419" r:id="rId58"/>
    <p:sldId id="497" r:id="rId59"/>
    <p:sldId id="498" r:id="rId60"/>
    <p:sldId id="499" r:id="rId61"/>
    <p:sldId id="456" r:id="rId62"/>
    <p:sldId id="500" r:id="rId63"/>
    <p:sldId id="501" r:id="rId64"/>
    <p:sldId id="503" r:id="rId65"/>
    <p:sldId id="502" r:id="rId66"/>
    <p:sldId id="435" r:id="rId67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99"/>
    <a:srgbClr val="404040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10"/>
    <p:restoredTop sz="94830"/>
  </p:normalViewPr>
  <p:slideViewPr>
    <p:cSldViewPr>
      <p:cViewPr varScale="1">
        <p:scale>
          <a:sx n="104" d="100"/>
          <a:sy n="104" d="100"/>
        </p:scale>
        <p:origin x="48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ram, Raja" userId="dd25fc10-a4ec-4121-97ef-7e32320fc7c9" providerId="ADAL" clId="{E89CBC5E-96B6-734D-A798-3B61B43FA378}"/>
    <pc:docChg chg="undo custSel addSld delSld modSld">
      <pc:chgData name="Akram, Raja" userId="dd25fc10-a4ec-4121-97ef-7e32320fc7c9" providerId="ADAL" clId="{E89CBC5E-96B6-734D-A798-3B61B43FA378}" dt="2020-09-16T13:26:48.965" v="86" actId="2696"/>
      <pc:docMkLst>
        <pc:docMk/>
      </pc:docMkLst>
      <pc:sldChg chg="modSp add mod">
        <pc:chgData name="Akram, Raja" userId="dd25fc10-a4ec-4121-97ef-7e32320fc7c9" providerId="ADAL" clId="{E89CBC5E-96B6-734D-A798-3B61B43FA378}" dt="2020-09-16T13:26:35.643" v="80" actId="27636"/>
        <pc:sldMkLst>
          <pc:docMk/>
          <pc:sldMk cId="1706739860" sldId="261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1748986828" sldId="261"/>
        </pc:sldMkLst>
      </pc:sldChg>
      <pc:sldChg chg="modSp mod">
        <pc:chgData name="Akram, Raja" userId="dd25fc10-a4ec-4121-97ef-7e32320fc7c9" providerId="ADAL" clId="{E89CBC5E-96B6-734D-A798-3B61B43FA378}" dt="2020-09-16T13:23:23.622" v="32" actId="20577"/>
        <pc:sldMkLst>
          <pc:docMk/>
          <pc:sldMk cId="119101843" sldId="279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172025948" sldId="291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3927293303" sldId="291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593820735" sldId="302"/>
        </pc:sldMkLst>
      </pc:sldChg>
      <pc:sldChg chg="modSp add mod">
        <pc:chgData name="Akram, Raja" userId="dd25fc10-a4ec-4121-97ef-7e32320fc7c9" providerId="ADAL" clId="{E89CBC5E-96B6-734D-A798-3B61B43FA378}" dt="2020-09-16T13:26:35.799" v="82" actId="27636"/>
        <pc:sldMkLst>
          <pc:docMk/>
          <pc:sldMk cId="4142539656" sldId="302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3055979979" sldId="304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3886232895" sldId="304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3188723762" sldId="315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3617522237" sldId="315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130769061" sldId="449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2758293984" sldId="449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50019390" sldId="451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2598794174" sldId="451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463734912" sldId="452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1867298641" sldId="452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2241166345" sldId="453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3941537026" sldId="453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3678353879" sldId="454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3901380239" sldId="454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752380952" sldId="457"/>
        </pc:sldMkLst>
      </pc:sldChg>
      <pc:sldChg chg="modSp add mod">
        <pc:chgData name="Akram, Raja" userId="dd25fc10-a4ec-4121-97ef-7e32320fc7c9" providerId="ADAL" clId="{E89CBC5E-96B6-734D-A798-3B61B43FA378}" dt="2020-09-16T13:26:35.920" v="85" actId="27636"/>
        <pc:sldMkLst>
          <pc:docMk/>
          <pc:sldMk cId="2161653841" sldId="457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1596761600" sldId="458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3752100435" sldId="458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980370664" sldId="459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2106417984" sldId="459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088767678" sldId="462"/>
        </pc:sldMkLst>
      </pc:sldChg>
      <pc:sldChg chg="modSp add mod">
        <pc:chgData name="Akram, Raja" userId="dd25fc10-a4ec-4121-97ef-7e32320fc7c9" providerId="ADAL" clId="{E89CBC5E-96B6-734D-A798-3B61B43FA378}" dt="2020-09-16T13:26:35.050" v="73" actId="27636"/>
        <pc:sldMkLst>
          <pc:docMk/>
          <pc:sldMk cId="1950968067" sldId="462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544580041" sldId="463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070519659" sldId="463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4192926148" sldId="464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4279546129" sldId="464"/>
        </pc:sldMkLst>
      </pc:sldChg>
      <pc:sldChg chg="modSp add mod">
        <pc:chgData name="Akram, Raja" userId="dd25fc10-a4ec-4121-97ef-7e32320fc7c9" providerId="ADAL" clId="{E89CBC5E-96B6-734D-A798-3B61B43FA378}" dt="2020-09-16T13:26:35.177" v="74" actId="27636"/>
        <pc:sldMkLst>
          <pc:docMk/>
          <pc:sldMk cId="2864400940" sldId="465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3079364632" sldId="465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296176910" sldId="466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2295265179" sldId="466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515883236" sldId="467"/>
        </pc:sldMkLst>
      </pc:sldChg>
      <pc:sldChg chg="modSp add mod">
        <pc:chgData name="Akram, Raja" userId="dd25fc10-a4ec-4121-97ef-7e32320fc7c9" providerId="ADAL" clId="{E89CBC5E-96B6-734D-A798-3B61B43FA378}" dt="2020-09-16T13:26:35.259" v="75" actId="27636"/>
        <pc:sldMkLst>
          <pc:docMk/>
          <pc:sldMk cId="1599516694" sldId="467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182196076" sldId="468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1044222889" sldId="468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445355269" sldId="469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3143196030" sldId="469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3119458692" sldId="470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3372919257" sldId="470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269334725" sldId="471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1641856365" sldId="471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960069297" sldId="472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3836476395" sldId="472"/>
        </pc:sldMkLst>
      </pc:sldChg>
      <pc:sldChg chg="modSp add mod">
        <pc:chgData name="Akram, Raja" userId="dd25fc10-a4ec-4121-97ef-7e32320fc7c9" providerId="ADAL" clId="{E89CBC5E-96B6-734D-A798-3B61B43FA378}" dt="2020-09-16T13:26:35.694" v="81" actId="27636"/>
        <pc:sldMkLst>
          <pc:docMk/>
          <pc:sldMk cId="367979780" sldId="473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2427901973" sldId="473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027226161" sldId="474"/>
        </pc:sldMkLst>
      </pc:sldChg>
      <pc:sldChg chg="modSp add mod">
        <pc:chgData name="Akram, Raja" userId="dd25fc10-a4ec-4121-97ef-7e32320fc7c9" providerId="ADAL" clId="{E89CBC5E-96B6-734D-A798-3B61B43FA378}" dt="2020-09-16T13:26:35.863" v="84" actId="27636"/>
        <pc:sldMkLst>
          <pc:docMk/>
          <pc:sldMk cId="1719506365" sldId="474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3165991950" sldId="475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3613103957" sldId="475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1230324526" sldId="476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3473690771" sldId="476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988979179" sldId="478"/>
        </pc:sldMkLst>
      </pc:sldChg>
      <pc:sldChg chg="modSp add mod">
        <pc:chgData name="Akram, Raja" userId="dd25fc10-a4ec-4121-97ef-7e32320fc7c9" providerId="ADAL" clId="{E89CBC5E-96B6-734D-A798-3B61B43FA378}" dt="2020-09-16T13:26:35.348" v="76" actId="27636"/>
        <pc:sldMkLst>
          <pc:docMk/>
          <pc:sldMk cId="2132686727" sldId="478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78296971" sldId="479"/>
        </pc:sldMkLst>
      </pc:sldChg>
      <pc:sldChg chg="modSp add mod">
        <pc:chgData name="Akram, Raja" userId="dd25fc10-a4ec-4121-97ef-7e32320fc7c9" providerId="ADAL" clId="{E89CBC5E-96B6-734D-A798-3B61B43FA378}" dt="2020-09-16T13:26:35.368" v="77" actId="27636"/>
        <pc:sldMkLst>
          <pc:docMk/>
          <pc:sldMk cId="2733636972" sldId="479"/>
        </pc:sldMkLst>
      </pc:sldChg>
      <pc:sldChg chg="modSp add mod">
        <pc:chgData name="Akram, Raja" userId="dd25fc10-a4ec-4121-97ef-7e32320fc7c9" providerId="ADAL" clId="{E89CBC5E-96B6-734D-A798-3B61B43FA378}" dt="2020-09-16T13:26:35.485" v="78" actId="27636"/>
        <pc:sldMkLst>
          <pc:docMk/>
          <pc:sldMk cId="494056975" sldId="480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729437322" sldId="480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1292872113" sldId="481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2940060155" sldId="481"/>
        </pc:sldMkLst>
      </pc:sldChg>
      <pc:sldChg chg="modSp add mod">
        <pc:chgData name="Akram, Raja" userId="dd25fc10-a4ec-4121-97ef-7e32320fc7c9" providerId="ADAL" clId="{E89CBC5E-96B6-734D-A798-3B61B43FA378}" dt="2020-09-16T13:26:35.595" v="79" actId="27636"/>
        <pc:sldMkLst>
          <pc:docMk/>
          <pc:sldMk cId="1201099885" sldId="482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1468935281" sldId="482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1779892777" sldId="483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3862132004" sldId="483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1294383290" sldId="484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2649843570" sldId="484"/>
        </pc:sldMkLst>
      </pc:sldChg>
      <pc:sldChg chg="modSp add mod">
        <pc:chgData name="Akram, Raja" userId="dd25fc10-a4ec-4121-97ef-7e32320fc7c9" providerId="ADAL" clId="{E89CBC5E-96B6-734D-A798-3B61B43FA378}" dt="2020-09-16T13:26:34.863" v="72" actId="27636"/>
        <pc:sldMkLst>
          <pc:docMk/>
          <pc:sldMk cId="1741602833" sldId="485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3728760329" sldId="485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1590470457" sldId="486"/>
        </pc:sldMkLst>
      </pc:sldChg>
      <pc:sldChg chg="add del">
        <pc:chgData name="Akram, Raja" userId="dd25fc10-a4ec-4121-97ef-7e32320fc7c9" providerId="ADAL" clId="{E89CBC5E-96B6-734D-A798-3B61B43FA378}" dt="2020-09-16T13:26:48.965" v="86" actId="2696"/>
        <pc:sldMkLst>
          <pc:docMk/>
          <pc:sldMk cId="2585987486" sldId="486"/>
        </pc:sldMkLst>
      </pc:sldChg>
      <pc:sldChg chg="add del">
        <pc:chgData name="Akram, Raja" userId="dd25fc10-a4ec-4121-97ef-7e32320fc7c9" providerId="ADAL" clId="{E89CBC5E-96B6-734D-A798-3B61B43FA378}" dt="2020-09-16T13:26:34.235" v="69"/>
        <pc:sldMkLst>
          <pc:docMk/>
          <pc:sldMk cId="2273644669" sldId="488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3228826118" sldId="488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280985621" sldId="489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3718479279" sldId="489"/>
        </pc:sldMkLst>
      </pc:sldChg>
      <pc:sldChg chg="modSp add mod">
        <pc:chgData name="Akram, Raja" userId="dd25fc10-a4ec-4121-97ef-7e32320fc7c9" providerId="ADAL" clId="{E89CBC5E-96B6-734D-A798-3B61B43FA378}" dt="2020-09-16T13:26:34.818" v="71" actId="27636"/>
        <pc:sldMkLst>
          <pc:docMk/>
          <pc:sldMk cId="90855792" sldId="490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693146921" sldId="490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2264366842" sldId="491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2908221395" sldId="491"/>
        </pc:sldMkLst>
      </pc:sldChg>
      <pc:sldChg chg="add">
        <pc:chgData name="Akram, Raja" userId="dd25fc10-a4ec-4121-97ef-7e32320fc7c9" providerId="ADAL" clId="{E89CBC5E-96B6-734D-A798-3B61B43FA378}" dt="2020-09-16T13:26:34.603" v="70"/>
        <pc:sldMkLst>
          <pc:docMk/>
          <pc:sldMk cId="2894422236" sldId="492"/>
        </pc:sldMkLst>
      </pc:sldChg>
      <pc:sldChg chg="modSp add del mod">
        <pc:chgData name="Akram, Raja" userId="dd25fc10-a4ec-4121-97ef-7e32320fc7c9" providerId="ADAL" clId="{E89CBC5E-96B6-734D-A798-3B61B43FA378}" dt="2020-09-16T13:26:34.235" v="69"/>
        <pc:sldMkLst>
          <pc:docMk/>
          <pc:sldMk cId="3272492405" sldId="492"/>
        </pc:sldMkLst>
      </pc:sldChg>
    </pc:docChg>
  </pc:docChgLst>
  <pc:docChgLst>
    <pc:chgData name="Akram, Raja" userId="dd25fc10-a4ec-4121-97ef-7e32320fc7c9" providerId="ADAL" clId="{82383D34-1443-4345-AC3F-73D906D6E4E4}"/>
    <pc:docChg chg="modSld">
      <pc:chgData name="Akram, Raja" userId="dd25fc10-a4ec-4121-97ef-7e32320fc7c9" providerId="ADAL" clId="{82383D34-1443-4345-AC3F-73D906D6E4E4}" dt="2020-09-16T11:56:39.889" v="0"/>
      <pc:docMkLst>
        <pc:docMk/>
      </pc:docMkLst>
      <pc:sldChg chg="modSp">
        <pc:chgData name="Akram, Raja" userId="dd25fc10-a4ec-4121-97ef-7e32320fc7c9" providerId="ADAL" clId="{82383D34-1443-4345-AC3F-73D906D6E4E4}" dt="2020-09-16T11:56:39.889" v="0"/>
        <pc:sldMkLst>
          <pc:docMk/>
          <pc:sldMk cId="119101843" sldId="279"/>
        </pc:sldMkLst>
      </pc:sldChg>
    </pc:docChg>
  </pc:docChgLst>
  <pc:docChgLst>
    <pc:chgData name="Ciocarlan, Ana" userId="dc6c74e0-d6a1-4e80-bb47-b7aefdf5a723" providerId="ADAL" clId="{C1F58100-3F86-4DCB-BC63-DEC88C8247A5}"/>
    <pc:docChg chg="custSel modSld">
      <pc:chgData name="Ciocarlan, Ana" userId="dc6c74e0-d6a1-4e80-bb47-b7aefdf5a723" providerId="ADAL" clId="{C1F58100-3F86-4DCB-BC63-DEC88C8247A5}" dt="2025-09-15T09:26:21.161" v="1" actId="478"/>
      <pc:docMkLst>
        <pc:docMk/>
      </pc:docMkLst>
      <pc:sldChg chg="addSp delSp modSp mod">
        <pc:chgData name="Ciocarlan, Ana" userId="dc6c74e0-d6a1-4e80-bb47-b7aefdf5a723" providerId="ADAL" clId="{C1F58100-3F86-4DCB-BC63-DEC88C8247A5}" dt="2025-09-15T09:26:21.161" v="1" actId="478"/>
        <pc:sldMkLst>
          <pc:docMk/>
          <pc:sldMk cId="119101843" sldId="279"/>
        </pc:sldMkLst>
        <pc:spChg chg="del">
          <ac:chgData name="Ciocarlan, Ana" userId="dc6c74e0-d6a1-4e80-bb47-b7aefdf5a723" providerId="ADAL" clId="{C1F58100-3F86-4DCB-BC63-DEC88C8247A5}" dt="2025-09-15T09:26:17.731" v="0" actId="478"/>
          <ac:spMkLst>
            <pc:docMk/>
            <pc:sldMk cId="119101843" sldId="279"/>
            <ac:spMk id="3" creationId="{00000000-0000-0000-0000-000000000000}"/>
          </ac:spMkLst>
        </pc:spChg>
        <pc:spChg chg="add del mod">
          <ac:chgData name="Ciocarlan, Ana" userId="dc6c74e0-d6a1-4e80-bb47-b7aefdf5a723" providerId="ADAL" clId="{C1F58100-3F86-4DCB-BC63-DEC88C8247A5}" dt="2025-09-15T09:26:21.161" v="1" actId="478"/>
          <ac:spMkLst>
            <pc:docMk/>
            <pc:sldMk cId="119101843" sldId="279"/>
            <ac:spMk id="5" creationId="{2F096EE5-980B-7611-30B2-15C447B4A2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A9BB0A-52E9-524B-B39D-E562793894D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0116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A9BB0A-52E9-524B-B39D-E562793894D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633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A9BB0A-52E9-524B-B39D-E562793894D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816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2B50C2-97AA-5E4B-A1C4-B853E400C2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3401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92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887117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9902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0000" y="2491199"/>
            <a:ext cx="8380800" cy="2448000"/>
          </a:xfrm>
        </p:spPr>
        <p:txBody>
          <a:bodyPr tIns="46800" anchor="t" anchorCtr="0">
            <a:noAutofit/>
          </a:bodyPr>
          <a:lstStyle>
            <a:lvl1pPr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defRPr lang="en-US" sz="5000" b="0" kern="1200" baseline="0" dirty="0">
                <a:solidFill>
                  <a:schemeClr val="accent6"/>
                </a:solidFill>
                <a:latin typeface="+mn-lt"/>
                <a:ea typeface="+mj-ea"/>
                <a:cs typeface="Arial" charset="0"/>
                <a:sym typeface="Arial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0000" y="5014800"/>
            <a:ext cx="8380800" cy="5760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name, if required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49263" y="5679407"/>
            <a:ext cx="8382000" cy="57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Date, if required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00" y="790594"/>
            <a:ext cx="2282400" cy="507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3D349-AF4D-4DC0-9003-CE6EA46A81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000" y="674186"/>
            <a:ext cx="2287159" cy="62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34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188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838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3587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775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528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97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876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03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058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857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96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1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6"/>
            <a:ext cx="10972801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67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1E3A99"/>
                </a:solidFill>
              </a:rPr>
              <a:t>Memory Management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101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System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8263" y="1769369"/>
            <a:ext cx="3855477" cy="10659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3600" b="1" dirty="0">
                <a:solidFill>
                  <a:prstClr val="white"/>
                </a:solidFill>
                <a:latin typeface="Calibri"/>
              </a:rPr>
              <a:t>Execution</a:t>
            </a:r>
          </a:p>
          <a:p>
            <a:pPr algn="ctr" defTabSz="914400"/>
            <a:r>
              <a:rPr lang="en-US" sz="1800" dirty="0">
                <a:solidFill>
                  <a:prstClr val="white"/>
                </a:solidFill>
                <a:latin typeface="Calibri"/>
              </a:rPr>
              <a:t>Execution of Program 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63335" y="3996824"/>
            <a:ext cx="3855477" cy="1065981"/>
          </a:xfrm>
          <a:prstGeom prst="round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3600" b="1" dirty="0">
                <a:solidFill>
                  <a:prstClr val="white"/>
                </a:solidFill>
                <a:latin typeface="Calibri"/>
              </a:rPr>
              <a:t>Memory</a:t>
            </a:r>
          </a:p>
          <a:p>
            <a:pPr algn="ctr" defTabSz="914400"/>
            <a:r>
              <a:rPr lang="en-US" sz="1800" dirty="0">
                <a:solidFill>
                  <a:prstClr val="white"/>
                </a:solidFill>
                <a:latin typeface="Calibri"/>
              </a:rPr>
              <a:t>Program-related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1545" y="3996824"/>
            <a:ext cx="3855477" cy="10659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3600" b="1" dirty="0">
                <a:solidFill>
                  <a:prstClr val="white"/>
                </a:solidFill>
                <a:latin typeface="Calibri"/>
              </a:rPr>
              <a:t>Persistent Storage</a:t>
            </a:r>
          </a:p>
          <a:p>
            <a:pPr algn="ctr" defTabSz="914400"/>
            <a:r>
              <a:rPr lang="en-US" sz="1800" dirty="0">
                <a:solidFill>
                  <a:prstClr val="white"/>
                </a:solidFill>
                <a:latin typeface="Calibri"/>
              </a:rPr>
              <a:t>Files</a:t>
            </a:r>
          </a:p>
        </p:txBody>
      </p:sp>
      <p:cxnSp>
        <p:nvCxnSpPr>
          <p:cNvPr id="9" name="Straight Connector 8"/>
          <p:cNvCxnSpPr>
            <a:stCxn id="5" idx="2"/>
            <a:endCxn id="6" idx="0"/>
          </p:cNvCxnSpPr>
          <p:nvPr/>
        </p:nvCxnSpPr>
        <p:spPr>
          <a:xfrm>
            <a:off x="6096001" y="2835349"/>
            <a:ext cx="2295072" cy="1161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6" idx="1"/>
            <a:endCxn id="7" idx="3"/>
          </p:cNvCxnSpPr>
          <p:nvPr/>
        </p:nvCxnSpPr>
        <p:spPr>
          <a:xfrm flipH="1">
            <a:off x="5677022" y="4529814"/>
            <a:ext cx="786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2"/>
            <a:endCxn id="7" idx="0"/>
          </p:cNvCxnSpPr>
          <p:nvPr/>
        </p:nvCxnSpPr>
        <p:spPr>
          <a:xfrm flipH="1">
            <a:off x="3749283" y="2835349"/>
            <a:ext cx="2346718" cy="1161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74176" y="2935530"/>
            <a:ext cx="3491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Program needs memory to 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04" y="2935530"/>
            <a:ext cx="208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Program stores data</a:t>
            </a:r>
          </a:p>
        </p:txBody>
      </p:sp>
    </p:spTree>
    <p:extLst>
      <p:ext uri="{BB962C8B-B14F-4D97-AF65-F5344CB8AC3E}">
        <p14:creationId xmlns:p14="http://schemas.microsoft.com/office/powerpoint/2010/main" val="2758293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Allocating Memory to Programs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>
          <a:xfrm>
            <a:off x="1981200" y="5263646"/>
            <a:ext cx="8229600" cy="141235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Main memory is a limited resource</a:t>
            </a:r>
          </a:p>
          <a:p>
            <a:r>
              <a:rPr lang="en-US" dirty="0"/>
              <a:t>A program needs memory for execution</a:t>
            </a:r>
          </a:p>
          <a:p>
            <a:r>
              <a:rPr lang="en-US" dirty="0"/>
              <a:t>How to run multiple programs concurrently when only a few of them may be loaded into memory at the same time?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655113" y="2035170"/>
            <a:ext cx="990212" cy="1100002"/>
            <a:chOff x="7341986" y="2775660"/>
            <a:chExt cx="990212" cy="1100002"/>
          </a:xfrm>
        </p:grpSpPr>
        <p:sp>
          <p:nvSpPr>
            <p:cNvPr id="5" name="Folded Corner 4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8786155" y="1155400"/>
            <a:ext cx="1152128" cy="42640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endParaRPr lang="en-GB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8240" y="4617315"/>
            <a:ext cx="987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Main</a:t>
            </a:r>
          </a:p>
          <a:p>
            <a:pPr algn="ctr"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Memory</a:t>
            </a:r>
          </a:p>
        </p:txBody>
      </p:sp>
      <p:sp>
        <p:nvSpPr>
          <p:cNvPr id="17" name="Folded Corner 16"/>
          <p:cNvSpPr/>
          <p:nvPr/>
        </p:nvSpPr>
        <p:spPr>
          <a:xfrm>
            <a:off x="8868240" y="1250571"/>
            <a:ext cx="987958" cy="376429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5986" y="1257667"/>
            <a:ext cx="998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600" dirty="0">
                <a:solidFill>
                  <a:prstClr val="black"/>
                </a:solidFill>
                <a:latin typeface="Calibri"/>
              </a:rPr>
              <a:t>OS Kernel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807513" y="2187570"/>
            <a:ext cx="990212" cy="1100002"/>
            <a:chOff x="7341986" y="2775660"/>
            <a:chExt cx="990212" cy="1100002"/>
          </a:xfrm>
        </p:grpSpPr>
        <p:sp>
          <p:nvSpPr>
            <p:cNvPr id="20" name="Folded Corner 19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959913" y="2339970"/>
            <a:ext cx="990212" cy="1100002"/>
            <a:chOff x="7341986" y="2775660"/>
            <a:chExt cx="990212" cy="1100002"/>
          </a:xfrm>
        </p:grpSpPr>
        <p:sp>
          <p:nvSpPr>
            <p:cNvPr id="23" name="Folded Corner 22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112313" y="2492370"/>
            <a:ext cx="990212" cy="1100002"/>
            <a:chOff x="7341986" y="2775660"/>
            <a:chExt cx="990212" cy="1100002"/>
          </a:xfrm>
        </p:grpSpPr>
        <p:sp>
          <p:nvSpPr>
            <p:cNvPr id="26" name="Folded Corner 25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264713" y="2644770"/>
            <a:ext cx="990212" cy="1100002"/>
            <a:chOff x="7341986" y="2775660"/>
            <a:chExt cx="990212" cy="1100002"/>
          </a:xfrm>
        </p:grpSpPr>
        <p:sp>
          <p:nvSpPr>
            <p:cNvPr id="29" name="Folded Corner 28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417113" y="2797170"/>
            <a:ext cx="990212" cy="1100002"/>
            <a:chOff x="7341986" y="2775660"/>
            <a:chExt cx="990212" cy="1100002"/>
          </a:xfrm>
        </p:grpSpPr>
        <p:sp>
          <p:nvSpPr>
            <p:cNvPr id="32" name="Folded Corner 31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569513" y="2949570"/>
            <a:ext cx="990212" cy="1100002"/>
            <a:chOff x="7341986" y="2775660"/>
            <a:chExt cx="990212" cy="1100002"/>
          </a:xfrm>
        </p:grpSpPr>
        <p:sp>
          <p:nvSpPr>
            <p:cNvPr id="35" name="Folded Corner 34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721913" y="3101970"/>
            <a:ext cx="990212" cy="1100002"/>
            <a:chOff x="7341986" y="2775660"/>
            <a:chExt cx="990212" cy="1100002"/>
          </a:xfrm>
        </p:grpSpPr>
        <p:sp>
          <p:nvSpPr>
            <p:cNvPr id="38" name="Folded Corner 37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874313" y="3254370"/>
            <a:ext cx="990212" cy="1100002"/>
            <a:chOff x="7341986" y="2775660"/>
            <a:chExt cx="990212" cy="1100002"/>
          </a:xfrm>
        </p:grpSpPr>
        <p:sp>
          <p:nvSpPr>
            <p:cNvPr id="41" name="Folded Corner 40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026713" y="3406770"/>
            <a:ext cx="990212" cy="1100002"/>
            <a:chOff x="7341986" y="2775660"/>
            <a:chExt cx="990212" cy="1100002"/>
          </a:xfrm>
        </p:grpSpPr>
        <p:sp>
          <p:nvSpPr>
            <p:cNvPr id="44" name="Folded Corner 43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179113" y="3559170"/>
            <a:ext cx="990212" cy="1100002"/>
            <a:chOff x="7341986" y="2775660"/>
            <a:chExt cx="990212" cy="1100002"/>
          </a:xfrm>
        </p:grpSpPr>
        <p:sp>
          <p:nvSpPr>
            <p:cNvPr id="47" name="Folded Corner 46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sp>
        <p:nvSpPr>
          <p:cNvPr id="49" name="Right Arrow 48"/>
          <p:cNvSpPr/>
          <p:nvPr/>
        </p:nvSpPr>
        <p:spPr>
          <a:xfrm>
            <a:off x="5581977" y="3292842"/>
            <a:ext cx="2756946" cy="521732"/>
          </a:xfrm>
          <a:prstGeom prst="rightArrow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169326" y="1564576"/>
            <a:ext cx="32935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800" dirty="0">
                <a:solidFill>
                  <a:prstClr val="black"/>
                </a:solidFill>
                <a:latin typeface="Calibri"/>
              </a:rPr>
              <a:t>How to run multiple programs with limited memory?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1392" y="2949571"/>
            <a:ext cx="619080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defTabSz="914400"/>
            <a:r>
              <a:rPr lang="en-US" sz="7200" b="1" spc="5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001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Concurrent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373216"/>
            <a:ext cx="8229600" cy="1224136"/>
          </a:xfrm>
        </p:spPr>
        <p:txBody>
          <a:bodyPr/>
          <a:lstStyle/>
          <a:p>
            <a:r>
              <a:rPr lang="en-US" dirty="0"/>
              <a:t>We need a </a:t>
            </a:r>
            <a:r>
              <a:rPr lang="en-US" i="1" dirty="0"/>
              <a:t>memory management strategy </a:t>
            </a:r>
            <a:r>
              <a:rPr lang="en-US" dirty="0"/>
              <a:t>to allow concurrent execution of programs</a:t>
            </a:r>
          </a:p>
        </p:txBody>
      </p:sp>
      <p:sp>
        <p:nvSpPr>
          <p:cNvPr id="4" name="Can 3"/>
          <p:cNvSpPr/>
          <p:nvPr/>
        </p:nvSpPr>
        <p:spPr>
          <a:xfrm>
            <a:off x="2207569" y="1484784"/>
            <a:ext cx="2927319" cy="3888432"/>
          </a:xfrm>
          <a:prstGeom prst="ca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367081" y="2395210"/>
            <a:ext cx="990212" cy="1100002"/>
            <a:chOff x="7341986" y="2775660"/>
            <a:chExt cx="990212" cy="1100002"/>
          </a:xfrm>
        </p:grpSpPr>
        <p:sp>
          <p:nvSpPr>
            <p:cNvPr id="6" name="Folded Corner 5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519481" y="2547610"/>
            <a:ext cx="990212" cy="1100002"/>
            <a:chOff x="7341986" y="2775660"/>
            <a:chExt cx="990212" cy="1100002"/>
          </a:xfrm>
        </p:grpSpPr>
        <p:sp>
          <p:nvSpPr>
            <p:cNvPr id="9" name="Folded Corner 8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671881" y="2700010"/>
            <a:ext cx="990212" cy="1100002"/>
            <a:chOff x="7341986" y="2775660"/>
            <a:chExt cx="990212" cy="1100002"/>
          </a:xfrm>
        </p:grpSpPr>
        <p:sp>
          <p:nvSpPr>
            <p:cNvPr id="12" name="Folded Corner 11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24281" y="2852410"/>
            <a:ext cx="990212" cy="1100002"/>
            <a:chOff x="7341986" y="2775660"/>
            <a:chExt cx="990212" cy="1100002"/>
          </a:xfrm>
        </p:grpSpPr>
        <p:sp>
          <p:nvSpPr>
            <p:cNvPr id="15" name="Folded Corner 14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976681" y="3004810"/>
            <a:ext cx="990212" cy="1100002"/>
            <a:chOff x="7341986" y="2775660"/>
            <a:chExt cx="990212" cy="1100002"/>
          </a:xfrm>
        </p:grpSpPr>
        <p:sp>
          <p:nvSpPr>
            <p:cNvPr id="18" name="Folded Corner 17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29081" y="3157210"/>
            <a:ext cx="990212" cy="1100002"/>
            <a:chOff x="7341986" y="2775660"/>
            <a:chExt cx="990212" cy="1100002"/>
          </a:xfrm>
        </p:grpSpPr>
        <p:sp>
          <p:nvSpPr>
            <p:cNvPr id="21" name="Folded Corner 20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281481" y="3309610"/>
            <a:ext cx="990212" cy="1100002"/>
            <a:chOff x="7341986" y="2775660"/>
            <a:chExt cx="990212" cy="1100002"/>
          </a:xfrm>
        </p:grpSpPr>
        <p:sp>
          <p:nvSpPr>
            <p:cNvPr id="24" name="Folded Corner 23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433881" y="3462010"/>
            <a:ext cx="990212" cy="1100002"/>
            <a:chOff x="7341986" y="2775660"/>
            <a:chExt cx="990212" cy="1100002"/>
          </a:xfrm>
        </p:grpSpPr>
        <p:sp>
          <p:nvSpPr>
            <p:cNvPr id="27" name="Folded Corner 26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586281" y="3614410"/>
            <a:ext cx="990212" cy="1100002"/>
            <a:chOff x="7341986" y="2775660"/>
            <a:chExt cx="990212" cy="1100002"/>
          </a:xfrm>
        </p:grpSpPr>
        <p:sp>
          <p:nvSpPr>
            <p:cNvPr id="30" name="Folded Corner 29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738681" y="3766810"/>
            <a:ext cx="990212" cy="1100002"/>
            <a:chOff x="7341986" y="2775660"/>
            <a:chExt cx="990212" cy="1100002"/>
          </a:xfrm>
        </p:grpSpPr>
        <p:sp>
          <p:nvSpPr>
            <p:cNvPr id="33" name="Folded Corner 32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891081" y="3919210"/>
            <a:ext cx="990212" cy="1100002"/>
            <a:chOff x="7341986" y="2775660"/>
            <a:chExt cx="990212" cy="1100002"/>
          </a:xfrm>
        </p:grpSpPr>
        <p:sp>
          <p:nvSpPr>
            <p:cNvPr id="36" name="Folded Corner 35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8786155" y="1155400"/>
            <a:ext cx="1152128" cy="42640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endParaRPr lang="en-GB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68240" y="4617315"/>
            <a:ext cx="987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Main</a:t>
            </a:r>
          </a:p>
          <a:p>
            <a:pPr algn="ctr"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Memory</a:t>
            </a:r>
          </a:p>
        </p:txBody>
      </p:sp>
      <p:sp>
        <p:nvSpPr>
          <p:cNvPr id="40" name="Folded Corner 39"/>
          <p:cNvSpPr/>
          <p:nvPr/>
        </p:nvSpPr>
        <p:spPr>
          <a:xfrm>
            <a:off x="8868240" y="1250571"/>
            <a:ext cx="987958" cy="376429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65986" y="1257667"/>
            <a:ext cx="998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600" dirty="0">
                <a:solidFill>
                  <a:prstClr val="black"/>
                </a:solidFill>
                <a:latin typeface="Calibri"/>
              </a:rPr>
              <a:t>OS Kernel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8328" y="1772817"/>
            <a:ext cx="619080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defTabSz="914400"/>
            <a:r>
              <a:rPr lang="en-US" sz="7200" b="1" spc="50" dirty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libri"/>
              </a:rPr>
              <a:t>?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81977" y="3292842"/>
            <a:ext cx="2756946" cy="521732"/>
          </a:xfrm>
          <a:prstGeom prst="rightArrow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47928" y="2780929"/>
            <a:ext cx="3065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b="1" dirty="0">
                <a:solidFill>
                  <a:prstClr val="black"/>
                </a:solidFill>
                <a:latin typeface="Calibri"/>
              </a:rPr>
              <a:t>Memory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593" y="1628801"/>
            <a:ext cx="2465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dirty="0">
                <a:solidFill>
                  <a:prstClr val="black"/>
                </a:solidFill>
                <a:latin typeface="Calibri"/>
              </a:rPr>
              <a:t>Persistent Storage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8760296" y="2996952"/>
            <a:ext cx="990212" cy="1100002"/>
            <a:chOff x="7341986" y="2775660"/>
            <a:chExt cx="990212" cy="1100002"/>
          </a:xfrm>
        </p:grpSpPr>
        <p:sp>
          <p:nvSpPr>
            <p:cNvPr id="48" name="Folded Corner 47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8912696" y="3149352"/>
            <a:ext cx="990212" cy="1100002"/>
            <a:chOff x="7341986" y="2775660"/>
            <a:chExt cx="990212" cy="1100002"/>
          </a:xfrm>
        </p:grpSpPr>
        <p:sp>
          <p:nvSpPr>
            <p:cNvPr id="51" name="Folded Corner 50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9065096" y="3301752"/>
            <a:ext cx="990212" cy="1100002"/>
            <a:chOff x="7341986" y="2775660"/>
            <a:chExt cx="990212" cy="1100002"/>
          </a:xfrm>
        </p:grpSpPr>
        <p:sp>
          <p:nvSpPr>
            <p:cNvPr id="54" name="Folded Corner 53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B8A44A6-E784-7046-906C-38734310E00A}"/>
              </a:ext>
            </a:extLst>
          </p:cNvPr>
          <p:cNvSpPr txBox="1"/>
          <p:nvPr/>
        </p:nvSpPr>
        <p:spPr>
          <a:xfrm>
            <a:off x="6269371" y="3726850"/>
            <a:ext cx="1422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b="1" dirty="0">
                <a:solidFill>
                  <a:prstClr val="black"/>
                </a:solidFill>
                <a:latin typeface="Calibri"/>
              </a:rPr>
              <a:t>Swapping</a:t>
            </a:r>
          </a:p>
        </p:txBody>
      </p:sp>
    </p:spTree>
    <p:extLst>
      <p:ext uri="{BB962C8B-B14F-4D97-AF65-F5344CB8AC3E}">
        <p14:creationId xmlns:p14="http://schemas.microsoft.com/office/powerpoint/2010/main" val="186729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1201" y="3311346"/>
            <a:ext cx="3855477" cy="10659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3600" b="1" dirty="0">
                <a:solidFill>
                  <a:prstClr val="white"/>
                </a:solidFill>
                <a:latin typeface="Calibri"/>
              </a:rPr>
              <a:t>Virtualization</a:t>
            </a:r>
          </a:p>
          <a:p>
            <a:pPr algn="ctr" defTabSz="914400"/>
            <a:r>
              <a:rPr lang="en-US" sz="1800" dirty="0">
                <a:solidFill>
                  <a:prstClr val="white"/>
                </a:solidFill>
                <a:latin typeface="Calibri"/>
              </a:rPr>
              <a:t>“Unlimited” resources and programs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1006" y="1394957"/>
            <a:ext cx="3855477" cy="10659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3600" b="1" dirty="0">
                <a:solidFill>
                  <a:prstClr val="white"/>
                </a:solidFill>
                <a:latin typeface="Calibri"/>
              </a:rPr>
              <a:t>Concurrency</a:t>
            </a:r>
          </a:p>
          <a:p>
            <a:pPr algn="ctr" defTabSz="914400"/>
            <a:r>
              <a:rPr lang="en-US" sz="1800" dirty="0">
                <a:solidFill>
                  <a:prstClr val="white"/>
                </a:solidFill>
                <a:latin typeface="Calibri"/>
              </a:rPr>
              <a:t>Execution of programs concurrently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31006" y="5227842"/>
            <a:ext cx="3855477" cy="1065981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3600" b="1" dirty="0">
                <a:solidFill>
                  <a:prstClr val="white"/>
                </a:solidFill>
                <a:latin typeface="Calibri"/>
              </a:rPr>
              <a:t>Persistence</a:t>
            </a:r>
          </a:p>
          <a:p>
            <a:pPr algn="ctr" defTabSz="914400"/>
            <a:r>
              <a:rPr lang="en-US" sz="1800" dirty="0">
                <a:solidFill>
                  <a:prstClr val="white"/>
                </a:solidFill>
                <a:latin typeface="Calibri"/>
              </a:rPr>
              <a:t>Storage of Data</a:t>
            </a:r>
          </a:p>
        </p:txBody>
      </p:sp>
      <p:cxnSp>
        <p:nvCxnSpPr>
          <p:cNvPr id="8" name="Straight Arrow Connector 7"/>
          <p:cNvCxnSpPr>
            <a:stCxn id="4" idx="0"/>
            <a:endCxn id="5" idx="2"/>
          </p:cNvCxnSpPr>
          <p:nvPr/>
        </p:nvCxnSpPr>
        <p:spPr>
          <a:xfrm flipV="1">
            <a:off x="3908940" y="2460937"/>
            <a:ext cx="3749805" cy="8504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83547" y="2460937"/>
            <a:ext cx="299455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2000" b="1" dirty="0">
                <a:solidFill>
                  <a:prstClr val="black"/>
                </a:solidFill>
                <a:latin typeface="Calibri"/>
              </a:rPr>
              <a:t>Virtualization of Processor</a:t>
            </a:r>
          </a:p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(processes, threads)</a:t>
            </a:r>
          </a:p>
        </p:txBody>
      </p:sp>
      <p:cxnSp>
        <p:nvCxnSpPr>
          <p:cNvPr id="11" name="Straight Arrow Connector 10"/>
          <p:cNvCxnSpPr>
            <a:stCxn id="4" idx="2"/>
            <a:endCxn id="6" idx="0"/>
          </p:cNvCxnSpPr>
          <p:nvPr/>
        </p:nvCxnSpPr>
        <p:spPr>
          <a:xfrm>
            <a:off x="3908940" y="4377327"/>
            <a:ext cx="3749805" cy="850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83546" y="4699745"/>
            <a:ext cx="287132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2000" b="1" dirty="0">
                <a:solidFill>
                  <a:prstClr val="black"/>
                </a:solidFill>
                <a:latin typeface="Calibri"/>
              </a:rPr>
              <a:t>Virtualization of Memory</a:t>
            </a:r>
          </a:p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(virtual address space)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2417" y="3126680"/>
            <a:ext cx="3500741" cy="646331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pPr defTabSz="914400"/>
            <a:r>
              <a:rPr lang="en-US" sz="1800" i="1" dirty="0">
                <a:solidFill>
                  <a:prstClr val="black"/>
                </a:solidFill>
                <a:latin typeface="Calibri"/>
              </a:rPr>
              <a:t>Principle: Context Switch</a:t>
            </a:r>
          </a:p>
          <a:p>
            <a:pPr defTabSz="914400"/>
            <a:r>
              <a:rPr lang="en-US" sz="1800" i="1" dirty="0">
                <a:solidFill>
                  <a:prstClr val="black"/>
                </a:solidFill>
                <a:latin typeface="Calibri"/>
              </a:rPr>
              <a:t>“Allotment of </a:t>
            </a:r>
            <a:r>
              <a:rPr lang="en-US" sz="1800" b="1" i="1" dirty="0">
                <a:solidFill>
                  <a:prstClr val="black"/>
                </a:solidFill>
                <a:latin typeface="Calibri"/>
              </a:rPr>
              <a:t>Time</a:t>
            </a:r>
            <a:r>
              <a:rPr lang="en-US" sz="1800" i="1" dirty="0">
                <a:solidFill>
                  <a:prstClr val="black"/>
                </a:solidFill>
                <a:latin typeface="Calibri"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2417" y="4192661"/>
            <a:ext cx="3569958" cy="646331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pPr defTabSz="914400"/>
            <a:r>
              <a:rPr lang="en-US" sz="1800" i="1" dirty="0">
                <a:solidFill>
                  <a:prstClr val="black"/>
                </a:solidFill>
                <a:latin typeface="Calibri"/>
              </a:rPr>
              <a:t>Principle: Paging and Segmentation</a:t>
            </a:r>
          </a:p>
          <a:p>
            <a:pPr defTabSz="914400"/>
            <a:r>
              <a:rPr lang="en-US" sz="1800" i="1" dirty="0">
                <a:solidFill>
                  <a:prstClr val="black"/>
                </a:solidFill>
                <a:latin typeface="Calibri"/>
              </a:rPr>
              <a:t>“Allotment of </a:t>
            </a:r>
            <a:r>
              <a:rPr lang="en-US" sz="1800" b="1" i="1" dirty="0">
                <a:solidFill>
                  <a:prstClr val="black"/>
                </a:solidFill>
                <a:latin typeface="Calibri"/>
              </a:rPr>
              <a:t>Space</a:t>
            </a:r>
            <a:r>
              <a:rPr lang="en-US" sz="1800" i="1" dirty="0">
                <a:solidFill>
                  <a:prstClr val="black"/>
                </a:solidFill>
                <a:latin typeface="Calibri"/>
              </a:rPr>
              <a:t>”</a:t>
            </a:r>
          </a:p>
        </p:txBody>
      </p:sp>
      <p:cxnSp>
        <p:nvCxnSpPr>
          <p:cNvPr id="16" name="Straight Arrow Connector 15"/>
          <p:cNvCxnSpPr>
            <a:stCxn id="13" idx="1"/>
          </p:cNvCxnSpPr>
          <p:nvPr/>
        </p:nvCxnSpPr>
        <p:spPr>
          <a:xfrm flipH="1" flipV="1">
            <a:off x="5836678" y="2869077"/>
            <a:ext cx="1025738" cy="5807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1"/>
          </p:cNvCxnSpPr>
          <p:nvPr/>
        </p:nvCxnSpPr>
        <p:spPr>
          <a:xfrm flipH="1">
            <a:off x="5836677" y="4515827"/>
            <a:ext cx="1025740" cy="29242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166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Memory management is the effective allocation of memory to processes on a computer system</a:t>
            </a:r>
          </a:p>
          <a:p>
            <a:r>
              <a:rPr lang="en-GB" dirty="0"/>
              <a:t>An operating system has five principal storage management responsibilities</a:t>
            </a:r>
          </a:p>
          <a:p>
            <a:pPr lvl="1"/>
            <a:r>
              <a:rPr lang="en-GB" dirty="0"/>
              <a:t>Automated allocation</a:t>
            </a:r>
          </a:p>
          <a:p>
            <a:pPr lvl="1"/>
            <a:r>
              <a:rPr lang="en-GB" dirty="0"/>
              <a:t>Virtualisation</a:t>
            </a:r>
          </a:p>
          <a:p>
            <a:pPr lvl="1"/>
            <a:r>
              <a:rPr lang="en-GB" dirty="0"/>
              <a:t>Support for modular programming (segmentation)</a:t>
            </a:r>
          </a:p>
          <a:p>
            <a:pPr lvl="1"/>
            <a:r>
              <a:rPr lang="en-GB" dirty="0"/>
              <a:t>Process isolation, protection and access control</a:t>
            </a:r>
          </a:p>
          <a:p>
            <a:pPr lvl="1"/>
            <a:r>
              <a:rPr lang="en-GB" dirty="0"/>
              <a:t>Long-term storage</a:t>
            </a:r>
          </a:p>
        </p:txBody>
      </p:sp>
    </p:spTree>
    <p:extLst>
      <p:ext uri="{BB962C8B-B14F-4D97-AF65-F5344CB8AC3E}">
        <p14:creationId xmlns:p14="http://schemas.microsoft.com/office/powerpoint/2010/main" val="367979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Memory Management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Main memory</a:t>
            </a:r>
          </a:p>
          <a:p>
            <a:pPr lvl="1"/>
            <a:r>
              <a:rPr lang="en-GB" dirty="0"/>
              <a:t>Large array of bytes</a:t>
            </a:r>
          </a:p>
          <a:p>
            <a:pPr lvl="1"/>
            <a:r>
              <a:rPr lang="en-GB" dirty="0"/>
              <a:t>Modern hardware architectures are “byte-addressable:</a:t>
            </a:r>
          </a:p>
          <a:p>
            <a:pPr lvl="2"/>
            <a:r>
              <a:rPr lang="en-GB" dirty="0"/>
              <a:t>Each byte (8 bits) in memory can be addressed (accessed)</a:t>
            </a:r>
          </a:p>
          <a:p>
            <a:pPr lvl="2"/>
            <a:r>
              <a:rPr lang="en-GB" dirty="0"/>
              <a:t>E.g.: a 32-bit processor architecture addresses 2</a:t>
            </a:r>
            <a:r>
              <a:rPr lang="en-GB" baseline="30000" dirty="0"/>
              <a:t>32</a:t>
            </a:r>
            <a:r>
              <a:rPr lang="en-GB" dirty="0"/>
              <a:t> bytes, which is 4 </a:t>
            </a:r>
            <a:r>
              <a:rPr lang="en-GB" dirty="0" err="1"/>
              <a:t>GiB</a:t>
            </a:r>
            <a:endParaRPr lang="en-GB" dirty="0"/>
          </a:p>
          <a:p>
            <a:pPr lvl="2"/>
            <a:r>
              <a:rPr lang="en-GB" dirty="0"/>
              <a:t>The </a:t>
            </a:r>
            <a:r>
              <a:rPr lang="en-GB" i="1" dirty="0"/>
              <a:t>word size </a:t>
            </a:r>
            <a:r>
              <a:rPr lang="en-GB" dirty="0"/>
              <a:t>depends on the processor architecture, it denotes the number of bits that the CPU can process at one time – it is the size of CPU registers (32-bit architecture have 32 bit words)</a:t>
            </a:r>
          </a:p>
          <a:p>
            <a:pPr lvl="1"/>
            <a:r>
              <a:rPr lang="en-GB" dirty="0"/>
              <a:t>Volatile</a:t>
            </a:r>
          </a:p>
          <a:p>
            <a:pPr lvl="2"/>
            <a:r>
              <a:rPr lang="en-GB" dirty="0"/>
              <a:t>Memory loses content in case of system failure</a:t>
            </a:r>
          </a:p>
        </p:txBody>
      </p:sp>
    </p:spTree>
    <p:extLst>
      <p:ext uri="{BB962C8B-B14F-4D97-AF65-F5344CB8AC3E}">
        <p14:creationId xmlns:p14="http://schemas.microsoft.com/office/powerpoint/2010/main" val="414253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Contiguous </a:t>
            </a:r>
            <a:r>
              <a:rPr lang="en-GB" dirty="0" err="1"/>
              <a:t>vs</a:t>
            </a:r>
            <a:r>
              <a:rPr lang="en-GB" dirty="0"/>
              <a:t> Non-contiguous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Early approaches – contiguous allocation</a:t>
            </a:r>
          </a:p>
          <a:p>
            <a:pPr lvl="1"/>
            <a:r>
              <a:rPr lang="en-GB" dirty="0"/>
              <a:t>Used partitioning of memory</a:t>
            </a:r>
          </a:p>
          <a:p>
            <a:pPr lvl="1"/>
            <a:r>
              <a:rPr lang="en-GB" dirty="0"/>
              <a:t>Program (process image) fits into memory in its entirety</a:t>
            </a:r>
          </a:p>
          <a:p>
            <a:pPr lvl="2"/>
            <a:r>
              <a:rPr lang="en-GB" dirty="0"/>
              <a:t>It occupies a contiguous block of physical memory</a:t>
            </a:r>
          </a:p>
          <a:p>
            <a:r>
              <a:rPr lang="en-GB" dirty="0"/>
              <a:t>Modern approaches – non-contiguous allocation</a:t>
            </a:r>
          </a:p>
          <a:p>
            <a:pPr lvl="1"/>
            <a:r>
              <a:rPr lang="en-GB" dirty="0"/>
              <a:t>Use paging and segmentation</a:t>
            </a:r>
          </a:p>
          <a:p>
            <a:pPr lvl="1"/>
            <a:r>
              <a:rPr lang="en-GB" dirty="0"/>
              <a:t>A process lives in a logical address space that is mapped to a set of non-contiguous physical memory locations (page frames)</a:t>
            </a:r>
          </a:p>
          <a:p>
            <a:pPr lvl="2"/>
            <a:r>
              <a:rPr lang="en-GB" dirty="0"/>
              <a:t>One process image occupies different blocks of physical memory</a:t>
            </a:r>
          </a:p>
          <a:p>
            <a:pPr lvl="2"/>
            <a:r>
              <a:rPr lang="en-GB" dirty="0"/>
              <a:t>Needs a mapping between </a:t>
            </a:r>
            <a:r>
              <a:rPr lang="en-GB" b="1" dirty="0"/>
              <a:t>parts</a:t>
            </a:r>
            <a:r>
              <a:rPr lang="en-GB" dirty="0"/>
              <a:t> of the process image and the actual physical </a:t>
            </a:r>
            <a:r>
              <a:rPr lang="en-GB" b="1" dirty="0"/>
              <a:t>memory blocks </a:t>
            </a:r>
            <a:r>
              <a:rPr lang="en-GB" dirty="0"/>
              <a:t>where they are currently stored</a:t>
            </a:r>
          </a:p>
        </p:txBody>
      </p:sp>
    </p:spTree>
    <p:extLst>
      <p:ext uri="{BB962C8B-B14F-4D97-AF65-F5344CB8AC3E}">
        <p14:creationId xmlns:p14="http://schemas.microsoft.com/office/powerpoint/2010/main" val="1719506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6635080" cy="4525963"/>
          </a:xfrm>
        </p:spPr>
        <p:txBody>
          <a:bodyPr>
            <a:normAutofit/>
          </a:bodyPr>
          <a:lstStyle/>
          <a:p>
            <a:r>
              <a:rPr lang="en-GB" dirty="0"/>
              <a:t>Early method of managing memory</a:t>
            </a:r>
          </a:p>
          <a:p>
            <a:pPr lvl="1"/>
            <a:r>
              <a:rPr lang="en-GB" dirty="0"/>
              <a:t>Memory was divided into partitions to allow multiple programs to be held in memory simultaneously</a:t>
            </a:r>
          </a:p>
          <a:p>
            <a:pPr lvl="1"/>
            <a:r>
              <a:rPr lang="en-GB" dirty="0"/>
              <a:t>Goal: better CPU utilisation, multitasking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 l="6144" r="54945" b="14162"/>
          <a:stretch>
            <a:fillRect/>
          </a:stretch>
        </p:blipFill>
        <p:spPr bwMode="auto">
          <a:xfrm>
            <a:off x="8688288" y="1340769"/>
            <a:ext cx="1800200" cy="5211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6599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program is completely located in memory</a:t>
            </a:r>
          </a:p>
          <a:p>
            <a:r>
              <a:rPr lang="en-GB" dirty="0"/>
              <a:t>Partitioning methods form the basis for modern memory management</a:t>
            </a:r>
          </a:p>
          <a:p>
            <a:pPr lvl="1"/>
            <a:r>
              <a:rPr lang="en-GB" dirty="0"/>
              <a:t>Fixed partitioning</a:t>
            </a:r>
          </a:p>
          <a:p>
            <a:pPr lvl="1"/>
            <a:r>
              <a:rPr lang="en-GB" dirty="0"/>
              <a:t>Dynamic partitioning</a:t>
            </a:r>
          </a:p>
          <a:p>
            <a:r>
              <a:rPr lang="en-GB" dirty="0"/>
              <a:t>Partitioning creates problems, may need garbage-collection approaches</a:t>
            </a:r>
          </a:p>
          <a:p>
            <a:pPr lvl="1"/>
            <a:r>
              <a:rPr lang="en-GB" dirty="0"/>
              <a:t>Buddy system</a:t>
            </a:r>
          </a:p>
        </p:txBody>
      </p:sp>
    </p:spTree>
    <p:extLst>
      <p:ext uri="{BB962C8B-B14F-4D97-AF65-F5344CB8AC3E}">
        <p14:creationId xmlns:p14="http://schemas.microsoft.com/office/powerpoint/2010/main" val="2161653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Fixed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5517232"/>
            <a:ext cx="8229600" cy="12241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Programs (process images) are swapped in and out of memory</a:t>
            </a:r>
          </a:p>
          <a:p>
            <a:r>
              <a:rPr lang="en-US" dirty="0"/>
              <a:t>If memory is full – which program to swap?</a:t>
            </a:r>
          </a:p>
        </p:txBody>
      </p:sp>
      <p:sp>
        <p:nvSpPr>
          <p:cNvPr id="4" name="Can 3"/>
          <p:cNvSpPr/>
          <p:nvPr/>
        </p:nvSpPr>
        <p:spPr>
          <a:xfrm>
            <a:off x="2207569" y="1484784"/>
            <a:ext cx="2927319" cy="3888432"/>
          </a:xfrm>
          <a:prstGeom prst="ca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367081" y="2395210"/>
            <a:ext cx="990212" cy="1100002"/>
            <a:chOff x="7341986" y="2775660"/>
            <a:chExt cx="990212" cy="1100002"/>
          </a:xfrm>
        </p:grpSpPr>
        <p:sp>
          <p:nvSpPr>
            <p:cNvPr id="6" name="Folded Corner 5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519481" y="2547610"/>
            <a:ext cx="990212" cy="1100002"/>
            <a:chOff x="7341986" y="2775660"/>
            <a:chExt cx="990212" cy="1100002"/>
          </a:xfrm>
        </p:grpSpPr>
        <p:sp>
          <p:nvSpPr>
            <p:cNvPr id="9" name="Folded Corner 8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671881" y="2700010"/>
            <a:ext cx="990212" cy="1100002"/>
            <a:chOff x="7341986" y="2775660"/>
            <a:chExt cx="990212" cy="1100002"/>
          </a:xfrm>
        </p:grpSpPr>
        <p:sp>
          <p:nvSpPr>
            <p:cNvPr id="12" name="Folded Corner 11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24281" y="2852410"/>
            <a:ext cx="990212" cy="1100002"/>
            <a:chOff x="7341986" y="2775660"/>
            <a:chExt cx="990212" cy="1100002"/>
          </a:xfrm>
        </p:grpSpPr>
        <p:sp>
          <p:nvSpPr>
            <p:cNvPr id="15" name="Folded Corner 14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976681" y="3004810"/>
            <a:ext cx="990212" cy="1100002"/>
            <a:chOff x="7341986" y="2775660"/>
            <a:chExt cx="990212" cy="1100002"/>
          </a:xfrm>
        </p:grpSpPr>
        <p:sp>
          <p:nvSpPr>
            <p:cNvPr id="18" name="Folded Corner 17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281481" y="3309610"/>
            <a:ext cx="990212" cy="1100002"/>
            <a:chOff x="7341986" y="2775660"/>
            <a:chExt cx="990212" cy="1100002"/>
          </a:xfrm>
        </p:grpSpPr>
        <p:sp>
          <p:nvSpPr>
            <p:cNvPr id="24" name="Folded Corner 23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433881" y="3462010"/>
            <a:ext cx="990212" cy="1100002"/>
            <a:chOff x="7341986" y="2775660"/>
            <a:chExt cx="990212" cy="1100002"/>
          </a:xfrm>
        </p:grpSpPr>
        <p:sp>
          <p:nvSpPr>
            <p:cNvPr id="27" name="Folded Corner 26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586281" y="3614410"/>
            <a:ext cx="990212" cy="1100002"/>
            <a:chOff x="7341986" y="2775660"/>
            <a:chExt cx="990212" cy="1100002"/>
          </a:xfrm>
        </p:grpSpPr>
        <p:sp>
          <p:nvSpPr>
            <p:cNvPr id="30" name="Folded Corner 29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738681" y="3766810"/>
            <a:ext cx="990212" cy="1100002"/>
            <a:chOff x="7341986" y="2775660"/>
            <a:chExt cx="990212" cy="1100002"/>
          </a:xfrm>
        </p:grpSpPr>
        <p:sp>
          <p:nvSpPr>
            <p:cNvPr id="33" name="Folded Corner 32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891081" y="3919210"/>
            <a:ext cx="990212" cy="1100002"/>
            <a:chOff x="7341986" y="2775660"/>
            <a:chExt cx="990212" cy="1100002"/>
          </a:xfrm>
        </p:grpSpPr>
        <p:sp>
          <p:nvSpPr>
            <p:cNvPr id="36" name="Folded Corner 35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8786155" y="1155400"/>
            <a:ext cx="1152128" cy="42640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endParaRPr lang="en-GB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04312" y="692697"/>
            <a:ext cx="872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GB" sz="1200" dirty="0">
                <a:solidFill>
                  <a:prstClr val="black"/>
                </a:solidFill>
                <a:latin typeface="Calibri"/>
              </a:rPr>
              <a:t>Main</a:t>
            </a:r>
          </a:p>
          <a:p>
            <a:pPr algn="ctr" defTabSz="914400"/>
            <a:r>
              <a:rPr lang="en-GB" sz="1200" dirty="0">
                <a:solidFill>
                  <a:prstClr val="black"/>
                </a:solidFill>
                <a:latin typeface="Calibri"/>
              </a:rPr>
              <a:t>Memory</a:t>
            </a:r>
          </a:p>
        </p:txBody>
      </p:sp>
      <p:sp>
        <p:nvSpPr>
          <p:cNvPr id="40" name="Folded Corner 39"/>
          <p:cNvSpPr/>
          <p:nvPr/>
        </p:nvSpPr>
        <p:spPr>
          <a:xfrm>
            <a:off x="8868240" y="1250571"/>
            <a:ext cx="987958" cy="376429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65986" y="1257667"/>
            <a:ext cx="998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600" dirty="0">
                <a:solidFill>
                  <a:prstClr val="black"/>
                </a:solidFill>
                <a:latin typeface="Calibri"/>
              </a:rPr>
              <a:t>OS Kernel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81978" y="3292842"/>
            <a:ext cx="2458239" cy="521732"/>
          </a:xfrm>
          <a:prstGeom prst="rightArrow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735960" y="2564904"/>
            <a:ext cx="2160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b="1" dirty="0">
                <a:solidFill>
                  <a:prstClr val="black"/>
                </a:solidFill>
                <a:latin typeface="Calibri"/>
              </a:rPr>
              <a:t>Memory Management</a:t>
            </a:r>
          </a:p>
          <a:p>
            <a:pPr defTabSz="914400"/>
            <a:endParaRPr lang="en-US" b="1" dirty="0">
              <a:solidFill>
                <a:prstClr val="black"/>
              </a:solidFill>
              <a:latin typeface="Calibri"/>
            </a:endParaRPr>
          </a:p>
          <a:p>
            <a:pPr defTabSz="914400"/>
            <a:r>
              <a:rPr lang="en-US" b="1" dirty="0">
                <a:solidFill>
                  <a:prstClr val="black"/>
                </a:solidFill>
                <a:latin typeface="Calibri"/>
              </a:rPr>
              <a:t>Swapping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593" y="1628801"/>
            <a:ext cx="2465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dirty="0">
                <a:solidFill>
                  <a:prstClr val="black"/>
                </a:solidFill>
                <a:latin typeface="Calibri"/>
              </a:rPr>
              <a:t>Persistent Storage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8850204" y="1844824"/>
            <a:ext cx="990212" cy="1100002"/>
            <a:chOff x="7341986" y="2775660"/>
            <a:chExt cx="990212" cy="1100002"/>
          </a:xfrm>
        </p:grpSpPr>
        <p:sp>
          <p:nvSpPr>
            <p:cNvPr id="48" name="Folded Corner 47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8112224" y="2996952"/>
            <a:ext cx="990212" cy="1100002"/>
            <a:chOff x="7341986" y="2775660"/>
            <a:chExt cx="990212" cy="1100002"/>
          </a:xfrm>
        </p:grpSpPr>
        <p:sp>
          <p:nvSpPr>
            <p:cNvPr id="51" name="Folded Corner 50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8850204" y="4149080"/>
            <a:ext cx="990212" cy="1100002"/>
            <a:chOff x="7341986" y="2775660"/>
            <a:chExt cx="990212" cy="1100002"/>
          </a:xfrm>
        </p:grpSpPr>
        <p:sp>
          <p:nvSpPr>
            <p:cNvPr id="54" name="Folded Corner 53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457716" y="3157210"/>
            <a:ext cx="990212" cy="1100002"/>
            <a:chOff x="7341986" y="2775660"/>
            <a:chExt cx="990212" cy="1100002"/>
          </a:xfrm>
        </p:grpSpPr>
        <p:sp>
          <p:nvSpPr>
            <p:cNvPr id="21" name="Folded Corner 20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319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Fixed Partitioning</a:t>
            </a:r>
            <a:br>
              <a:rPr lang="en-GB" dirty="0"/>
            </a:br>
            <a:r>
              <a:rPr lang="en-GB" sz="2400" dirty="0"/>
              <a:t>Equal Partition Size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6923112" cy="4853136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Static partitioning of physical memory</a:t>
            </a:r>
          </a:p>
          <a:p>
            <a:pPr lvl="1"/>
            <a:r>
              <a:rPr lang="en-GB" dirty="0"/>
              <a:t>Memory organised as a set of fixed equal-sized partitions</a:t>
            </a:r>
          </a:p>
          <a:p>
            <a:pPr lvl="1"/>
            <a:r>
              <a:rPr lang="en-GB" dirty="0"/>
              <a:t>No overlap of partitions</a:t>
            </a:r>
          </a:p>
          <a:p>
            <a:pPr lvl="1"/>
            <a:r>
              <a:rPr lang="en-GB" dirty="0"/>
              <a:t>A program may be loaded into a partition of equal or greater size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GB" dirty="0"/>
              <a:t>Number of partitions determines how many programs may be loaded into memory simultaneously</a:t>
            </a:r>
          </a:p>
          <a:p>
            <a:pPr lvl="1"/>
            <a:r>
              <a:rPr lang="en-GB" dirty="0"/>
              <a:t>When all partitions are occupied, operating system may swap programs in and out of partitions</a:t>
            </a:r>
          </a:p>
          <a:p>
            <a:r>
              <a:rPr lang="en-GB" dirty="0"/>
              <a:t>Strength:</a:t>
            </a:r>
          </a:p>
          <a:p>
            <a:pPr lvl="1"/>
            <a:r>
              <a:rPr lang="en-GB" dirty="0"/>
              <a:t>Simple to implement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 l="6144" r="54945" b="14162"/>
          <a:stretch>
            <a:fillRect/>
          </a:stretch>
        </p:blipFill>
        <p:spPr bwMode="auto">
          <a:xfrm>
            <a:off x="8688288" y="1314240"/>
            <a:ext cx="1800200" cy="5211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96761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Replacement, Swapping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363272" cy="4925144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Swapping and process replacement</a:t>
            </a:r>
          </a:p>
          <a:p>
            <a:pPr lvl="1"/>
            <a:r>
              <a:rPr lang="en-GB" dirty="0"/>
              <a:t>If all partitions are allocated, a new process may have to wait for a partition to become free</a:t>
            </a:r>
          </a:p>
          <a:p>
            <a:pPr lvl="1"/>
            <a:r>
              <a:rPr lang="en-GB" b="1" i="1" dirty="0"/>
              <a:t>Replacement decision</a:t>
            </a:r>
            <a:r>
              <a:rPr lang="en-GB" dirty="0"/>
              <a:t>: Programs may be swapped out to make partitions available for new programs</a:t>
            </a:r>
          </a:p>
          <a:p>
            <a:pPr lvl="2"/>
            <a:r>
              <a:rPr lang="en-GB" dirty="0"/>
              <a:t>Which program / process is the best one to replace?</a:t>
            </a:r>
          </a:p>
          <a:p>
            <a:pPr lvl="1"/>
            <a:r>
              <a:rPr lang="en-GB" b="1" i="1" dirty="0"/>
              <a:t>Relocation decisions</a:t>
            </a:r>
            <a:r>
              <a:rPr lang="en-GB" dirty="0"/>
              <a:t>: if process is swapped in</a:t>
            </a:r>
          </a:p>
          <a:p>
            <a:pPr lvl="2"/>
            <a:r>
              <a:rPr lang="en-GB" dirty="0"/>
              <a:t>swapped into same partition as before? What about addresses used in program?</a:t>
            </a:r>
          </a:p>
          <a:p>
            <a:pPr lvl="2"/>
            <a:r>
              <a:rPr lang="en-GB" dirty="0"/>
              <a:t>May need relocation mechanisms</a:t>
            </a:r>
          </a:p>
          <a:p>
            <a:r>
              <a:rPr lang="en-GB" dirty="0"/>
              <a:t>Arrival of new process</a:t>
            </a:r>
          </a:p>
          <a:p>
            <a:pPr lvl="1"/>
            <a:r>
              <a:rPr lang="en-GB" dirty="0"/>
              <a:t>Will be added to a waiting queue for memory allocation</a:t>
            </a:r>
          </a:p>
          <a:p>
            <a:pPr lvl="1"/>
            <a:r>
              <a:rPr lang="en-GB" dirty="0"/>
              <a:t>Either one queue for all partitions or a separate queue for each partition</a:t>
            </a:r>
          </a:p>
        </p:txBody>
      </p:sp>
    </p:spTree>
    <p:extLst>
      <p:ext uri="{BB962C8B-B14F-4D97-AF65-F5344CB8AC3E}">
        <p14:creationId xmlns:p14="http://schemas.microsoft.com/office/powerpoint/2010/main" val="2106417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0171" y="1600200"/>
            <a:ext cx="4521881" cy="502249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Programs need memory for execution</a:t>
            </a:r>
          </a:p>
          <a:p>
            <a:pPr lvl="1"/>
            <a:r>
              <a:rPr lang="en-US" dirty="0"/>
              <a:t>Programs must be loaded (by OS) into physical memory for execution</a:t>
            </a:r>
          </a:p>
          <a:p>
            <a:r>
              <a:rPr lang="en-US" dirty="0"/>
              <a:t>During execution, programs manipulate data</a:t>
            </a:r>
          </a:p>
          <a:p>
            <a:pPr lvl="1"/>
            <a:r>
              <a:rPr lang="en-GB" dirty="0"/>
              <a:t>Program instructions refer to memory addresses</a:t>
            </a:r>
          </a:p>
          <a:p>
            <a:pPr lvl="2"/>
            <a:r>
              <a:rPr lang="en-GB" dirty="0"/>
              <a:t>Load data into register, or write register back to memory</a:t>
            </a:r>
            <a:endParaRPr lang="en-US" dirty="0"/>
          </a:p>
          <a:p>
            <a:r>
              <a:rPr lang="en-US" dirty="0"/>
              <a:t>Program code must contain information about memory locations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6067" y="2775660"/>
            <a:ext cx="1152128" cy="648072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1800" dirty="0">
                <a:solidFill>
                  <a:prstClr val="white"/>
                </a:solidFill>
                <a:latin typeface="Calibri"/>
              </a:rPr>
              <a:t>Processor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86155" y="1883430"/>
            <a:ext cx="1152128" cy="42640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endParaRPr lang="en-GB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18004" y="3978809"/>
            <a:ext cx="933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Physical</a:t>
            </a:r>
          </a:p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8240" y="5345345"/>
            <a:ext cx="987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Main</a:t>
            </a:r>
          </a:p>
          <a:p>
            <a:pPr algn="ctr"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Memory</a:t>
            </a:r>
          </a:p>
        </p:txBody>
      </p:sp>
      <p:sp>
        <p:nvSpPr>
          <p:cNvPr id="12" name="Folded Corner 11"/>
          <p:cNvSpPr/>
          <p:nvPr/>
        </p:nvSpPr>
        <p:spPr>
          <a:xfrm>
            <a:off x="8868240" y="2775660"/>
            <a:ext cx="987958" cy="110000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5986" y="3423732"/>
            <a:ext cx="99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Program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1615" y="3030350"/>
            <a:ext cx="1026066" cy="16748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dirty="0">
                <a:solidFill>
                  <a:prstClr val="white"/>
                </a:solidFill>
                <a:latin typeface="Calibri"/>
              </a:rPr>
              <a:t>Instruction</a:t>
            </a:r>
          </a:p>
        </p:txBody>
      </p:sp>
      <p:sp>
        <p:nvSpPr>
          <p:cNvPr id="16" name="Folded Corner 15"/>
          <p:cNvSpPr/>
          <p:nvPr/>
        </p:nvSpPr>
        <p:spPr>
          <a:xfrm>
            <a:off x="8868240" y="3895114"/>
            <a:ext cx="987958" cy="735783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24747" y="4178967"/>
            <a:ext cx="625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Data</a:t>
            </a:r>
          </a:p>
        </p:txBody>
      </p:sp>
      <p:sp>
        <p:nvSpPr>
          <p:cNvPr id="18" name="Folded Corner 17"/>
          <p:cNvSpPr/>
          <p:nvPr/>
        </p:nvSpPr>
        <p:spPr>
          <a:xfrm>
            <a:off x="8868241" y="4652721"/>
            <a:ext cx="996135" cy="36933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24747" y="465272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Stack</a:t>
            </a:r>
          </a:p>
        </p:txBody>
      </p:sp>
      <p:sp>
        <p:nvSpPr>
          <p:cNvPr id="20" name="Folded Corner 19"/>
          <p:cNvSpPr/>
          <p:nvPr/>
        </p:nvSpPr>
        <p:spPr>
          <a:xfrm>
            <a:off x="8868240" y="1978601"/>
            <a:ext cx="987958" cy="376429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65986" y="1985697"/>
            <a:ext cx="998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600" dirty="0">
                <a:solidFill>
                  <a:prstClr val="black"/>
                </a:solidFill>
                <a:latin typeface="Calibri"/>
              </a:rPr>
              <a:t>OS Kernel</a:t>
            </a:r>
          </a:p>
        </p:txBody>
      </p:sp>
      <p:cxnSp>
        <p:nvCxnSpPr>
          <p:cNvPr id="28" name="Straight Connector 27"/>
          <p:cNvCxnSpPr>
            <a:endCxn id="4" idx="2"/>
          </p:cNvCxnSpPr>
          <p:nvPr/>
        </p:nvCxnSpPr>
        <p:spPr>
          <a:xfrm flipV="1">
            <a:off x="7072131" y="3423733"/>
            <a:ext cx="0" cy="915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072131" y="4338849"/>
            <a:ext cx="17140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7768741" y="3141132"/>
            <a:ext cx="123287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ight Brace 34"/>
          <p:cNvSpPr/>
          <p:nvPr/>
        </p:nvSpPr>
        <p:spPr>
          <a:xfrm>
            <a:off x="9980609" y="2775660"/>
            <a:ext cx="271513" cy="22463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263460" y="2963146"/>
            <a:ext cx="271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3886232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 Relocation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841047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A compiled program should be independent of physical memory locations</a:t>
            </a:r>
          </a:p>
          <a:p>
            <a:pPr lvl="1"/>
            <a:r>
              <a:rPr lang="en-GB" dirty="0"/>
              <a:t>Programs must be executable at any location in memory</a:t>
            </a:r>
          </a:p>
          <a:p>
            <a:pPr lvl="1"/>
            <a:r>
              <a:rPr lang="en-GB" dirty="0"/>
              <a:t>Program instructions refer to memory addresses</a:t>
            </a:r>
          </a:p>
          <a:p>
            <a:pPr lvl="2"/>
            <a:r>
              <a:rPr lang="en-GB" dirty="0"/>
              <a:t>Load data into register, or write register back to memory</a:t>
            </a:r>
          </a:p>
          <a:p>
            <a:r>
              <a:rPr lang="en-GB" dirty="0"/>
              <a:t>With dynamic schemes, programs can be relocated in memory</a:t>
            </a:r>
          </a:p>
          <a:p>
            <a:r>
              <a:rPr lang="en-GB" dirty="0"/>
              <a:t>Addresses used in a program cannot be actual physical addresses</a:t>
            </a:r>
          </a:p>
          <a:p>
            <a:pPr lvl="1"/>
            <a:r>
              <a:rPr lang="en-GB" dirty="0"/>
              <a:t>makes program relocation impossible</a:t>
            </a:r>
          </a:p>
          <a:p>
            <a:pPr lvl="1"/>
            <a:r>
              <a:rPr lang="en-GB" dirty="0"/>
              <a:t>Use relative addressing: addresses used in program are offsets relative to the program’s start location</a:t>
            </a:r>
          </a:p>
        </p:txBody>
      </p:sp>
    </p:spTree>
    <p:extLst>
      <p:ext uri="{BB962C8B-B14F-4D97-AF65-F5344CB8AC3E}">
        <p14:creationId xmlns:p14="http://schemas.microsoft.com/office/powerpoint/2010/main" val="3617522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3791745" y="1844825"/>
            <a:ext cx="1739739" cy="3296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Folded Corner 5"/>
          <p:cNvSpPr/>
          <p:nvPr/>
        </p:nvSpPr>
        <p:spPr>
          <a:xfrm>
            <a:off x="3904203" y="2174322"/>
            <a:ext cx="1526434" cy="2032373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Addressing – Using an Offset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543293"/>
            <a:ext cx="8229600" cy="1022695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Solution:</a:t>
            </a:r>
          </a:p>
          <a:p>
            <a:pPr lvl="1"/>
            <a:r>
              <a:rPr lang="en-GB" dirty="0"/>
              <a:t>Programs are programmed / compiled as if they always start at some imaginary address 0</a:t>
            </a:r>
          </a:p>
          <a:p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670480" y="2196229"/>
            <a:ext cx="11793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10712" y="1868064"/>
            <a:ext cx="1125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Physical </a:t>
            </a:r>
          </a:p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Address </a:t>
            </a:r>
            <a:r>
              <a:rPr lang="en-US" sz="1800" b="1" dirty="0">
                <a:solidFill>
                  <a:srgbClr val="FF0000"/>
                </a:solidFill>
                <a:latin typeface="Calibri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10731" y="2864046"/>
            <a:ext cx="1422407" cy="43293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dirty="0">
                <a:solidFill>
                  <a:prstClr val="black"/>
                </a:solidFill>
                <a:latin typeface="Calibri"/>
              </a:rPr>
              <a:t>Instructions use logical Address </a:t>
            </a:r>
            <a:r>
              <a:rPr lang="en-US" sz="1800" b="1" dirty="0">
                <a:solidFill>
                  <a:srgbClr val="FF0000"/>
                </a:solidFill>
                <a:latin typeface="Calibri"/>
              </a:rPr>
              <a:t>L</a:t>
            </a:r>
            <a:endParaRPr lang="en-US"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15268" y="3236216"/>
            <a:ext cx="1444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Physical</a:t>
            </a:r>
          </a:p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Address </a:t>
            </a:r>
            <a:r>
              <a:rPr lang="en-US" sz="1800" b="1" dirty="0">
                <a:solidFill>
                  <a:srgbClr val="FF0000"/>
                </a:solidFill>
                <a:latin typeface="Calibri"/>
              </a:rPr>
              <a:t>A + L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670480" y="3532829"/>
            <a:ext cx="11793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15184" y="269063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b="1" dirty="0">
                <a:solidFill>
                  <a:prstClr val="black"/>
                </a:solidFill>
                <a:latin typeface="Calibri"/>
              </a:rPr>
              <a:t>Offset</a:t>
            </a:r>
            <a:r>
              <a:rPr lang="en-US" sz="1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alibri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6901" y="3873254"/>
            <a:ext cx="98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1800">
                <a:solidFill>
                  <a:prstClr val="black"/>
                </a:solidFill>
                <a:latin typeface="Calibri"/>
              </a:rPr>
              <a:t>Program</a:t>
            </a:r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57365" y="2268099"/>
            <a:ext cx="1084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Logical</a:t>
            </a:r>
          </a:p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Address </a:t>
            </a:r>
            <a:r>
              <a:rPr lang="en-US" sz="1800" b="1" dirty="0">
                <a:solidFill>
                  <a:srgbClr val="FF0000"/>
                </a:solidFill>
                <a:latin typeface="Calibri"/>
              </a:rP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5967" y="4740895"/>
            <a:ext cx="98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Memory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55967" y="2779900"/>
            <a:ext cx="1163996" cy="28963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dirty="0">
                <a:solidFill>
                  <a:prstClr val="black"/>
                </a:solidFill>
                <a:latin typeface="Calibri"/>
              </a:rPr>
              <a:t>LOAD </a:t>
            </a:r>
            <a:r>
              <a:rPr lang="en-US" sz="1400" dirty="0" err="1">
                <a:solidFill>
                  <a:prstClr val="black"/>
                </a:solidFill>
                <a:latin typeface="Calibri"/>
              </a:rPr>
              <a:t>Reg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1400" b="1" dirty="0">
                <a:solidFill>
                  <a:srgbClr val="FF0000"/>
                </a:solidFill>
                <a:latin typeface="Calibri"/>
              </a:rPr>
              <a:t>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55967" y="3357654"/>
            <a:ext cx="1163996" cy="28963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dirty="0">
                <a:solidFill>
                  <a:prstClr val="black"/>
                </a:solidFill>
                <a:latin typeface="Calibri"/>
              </a:rPr>
              <a:t>Data</a:t>
            </a:r>
            <a:endParaRPr lang="en-US"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2605" y="3325483"/>
            <a:ext cx="282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b="1" dirty="0">
                <a:solidFill>
                  <a:srgbClr val="FF0000"/>
                </a:solidFill>
                <a:latin typeface="Calibri"/>
              </a:rPr>
              <a:t>L</a:t>
            </a:r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" name="Elbow Connector 9"/>
          <p:cNvCxnSpPr>
            <a:stCxn id="19" idx="1"/>
            <a:endCxn id="4" idx="0"/>
          </p:cNvCxnSpPr>
          <p:nvPr/>
        </p:nvCxnSpPr>
        <p:spPr>
          <a:xfrm rot="10800000" flipV="1">
            <a:off x="4023744" y="2924717"/>
            <a:ext cx="132225" cy="400766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21464" y="1573280"/>
            <a:ext cx="1152128" cy="42640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endParaRPr lang="en-GB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39621" y="1110577"/>
            <a:ext cx="872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GB" sz="1200" dirty="0">
                <a:solidFill>
                  <a:prstClr val="black"/>
                </a:solidFill>
                <a:latin typeface="Calibri"/>
              </a:rPr>
              <a:t>Main</a:t>
            </a:r>
          </a:p>
          <a:p>
            <a:pPr algn="ctr" defTabSz="914400"/>
            <a:r>
              <a:rPr lang="en-GB" sz="1200" dirty="0">
                <a:solidFill>
                  <a:prstClr val="black"/>
                </a:solidFill>
                <a:latin typeface="Calibri"/>
              </a:rPr>
              <a:t>Memory</a:t>
            </a:r>
          </a:p>
        </p:txBody>
      </p:sp>
      <p:sp>
        <p:nvSpPr>
          <p:cNvPr id="26" name="Folded Corner 25"/>
          <p:cNvSpPr/>
          <p:nvPr/>
        </p:nvSpPr>
        <p:spPr>
          <a:xfrm>
            <a:off x="9303549" y="1668451"/>
            <a:ext cx="987958" cy="376429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01295" y="1675547"/>
            <a:ext cx="998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600" dirty="0">
                <a:solidFill>
                  <a:prstClr val="black"/>
                </a:solidFill>
                <a:latin typeface="Calibri"/>
              </a:rPr>
              <a:t>OS Kernel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9285513" y="2262704"/>
            <a:ext cx="990212" cy="1100002"/>
            <a:chOff x="7341986" y="2775660"/>
            <a:chExt cx="990212" cy="1100002"/>
          </a:xfrm>
        </p:grpSpPr>
        <p:sp>
          <p:nvSpPr>
            <p:cNvPr id="29" name="Folded Corner 28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731922" y="3414832"/>
            <a:ext cx="990212" cy="1100002"/>
            <a:chOff x="7341986" y="2775660"/>
            <a:chExt cx="990212" cy="1100002"/>
          </a:xfrm>
        </p:grpSpPr>
        <p:sp>
          <p:nvSpPr>
            <p:cNvPr id="32" name="Folded Corner 31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285513" y="4566960"/>
            <a:ext cx="990212" cy="1100002"/>
            <a:chOff x="7341986" y="2775660"/>
            <a:chExt cx="990212" cy="1100002"/>
          </a:xfrm>
        </p:grpSpPr>
        <p:sp>
          <p:nvSpPr>
            <p:cNvPr id="35" name="Folded Corner 34"/>
            <p:cNvSpPr/>
            <p:nvPr/>
          </p:nvSpPr>
          <p:spPr>
            <a:xfrm>
              <a:off x="7344240" y="2775660"/>
              <a:ext cx="987958" cy="1100002"/>
            </a:xfrm>
            <a:prstGeom prst="foldedCorne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41986" y="3423732"/>
              <a:ext cx="990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800" dirty="0">
                  <a:solidFill>
                    <a:prstClr val="black"/>
                  </a:solidFill>
                  <a:latin typeface="Calibri"/>
                </a:rPr>
                <a:t>Program</a:t>
              </a:r>
            </a:p>
          </p:txBody>
        </p:sp>
      </p:grpSp>
      <p:sp>
        <p:nvSpPr>
          <p:cNvPr id="5" name="Left Brace 4"/>
          <p:cNvSpPr/>
          <p:nvPr/>
        </p:nvSpPr>
        <p:spPr>
          <a:xfrm>
            <a:off x="3529447" y="2262705"/>
            <a:ext cx="315511" cy="12021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9" name="Straight Arrow Connector 38"/>
          <p:cNvCxnSpPr>
            <a:stCxn id="17" idx="1"/>
          </p:cNvCxnSpPr>
          <p:nvPr/>
        </p:nvCxnSpPr>
        <p:spPr>
          <a:xfrm flipH="1">
            <a:off x="5157940" y="2591264"/>
            <a:ext cx="499425" cy="329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7502719" y="3432949"/>
            <a:ext cx="11793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88302" y="3091667"/>
            <a:ext cx="1125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Physical </a:t>
            </a:r>
          </a:p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Address </a:t>
            </a:r>
            <a:r>
              <a:rPr lang="en-US" sz="1800" b="1" dirty="0">
                <a:solidFill>
                  <a:srgbClr val="FF0000"/>
                </a:solidFill>
                <a:latin typeface="Calibri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41856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E45F8-655B-6F4D-9682-4B2690C0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A4A2A-66B7-FB4A-BAAE-F46865E63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GB" dirty="0"/>
              <a:t>Operating system works with relative addressing mechanism:</a:t>
            </a:r>
          </a:p>
          <a:p>
            <a:pPr lvl="1"/>
            <a:r>
              <a:rPr lang="en-GB" dirty="0"/>
              <a:t>Reference to memory in program independent of actual physical location</a:t>
            </a:r>
          </a:p>
          <a:p>
            <a:pPr lvl="1"/>
            <a:r>
              <a:rPr lang="en-GB" dirty="0"/>
              <a:t>Program instructions use </a:t>
            </a:r>
            <a:r>
              <a:rPr lang="en-GB" i="1" dirty="0">
                <a:solidFill>
                  <a:srgbClr val="FF0000"/>
                </a:solidFill>
              </a:rPr>
              <a:t>logical</a:t>
            </a:r>
            <a:r>
              <a:rPr lang="en-GB" dirty="0"/>
              <a:t> addresses</a:t>
            </a:r>
          </a:p>
          <a:p>
            <a:pPr lvl="2"/>
            <a:r>
              <a:rPr lang="en-GB" dirty="0"/>
              <a:t>Addresses in program are offsets from a base address (the starting address of the program in memory) </a:t>
            </a:r>
          </a:p>
          <a:p>
            <a:pPr lvl="1"/>
            <a:r>
              <a:rPr lang="en-GB" dirty="0"/>
              <a:t>add the base address whenever there is an access to memory</a:t>
            </a:r>
          </a:p>
          <a:p>
            <a:r>
              <a:rPr lang="en-GB" dirty="0"/>
              <a:t>We need an address translation mechanism (the memory management unit (MMU) in hardware) to translate </a:t>
            </a:r>
            <a:r>
              <a:rPr lang="en-GB" i="1" dirty="0">
                <a:solidFill>
                  <a:srgbClr val="FF0000"/>
                </a:solidFill>
              </a:rPr>
              <a:t>logical</a:t>
            </a:r>
            <a:r>
              <a:rPr lang="en-GB" dirty="0"/>
              <a:t> addresses into actual </a:t>
            </a:r>
            <a:r>
              <a:rPr lang="en-GB" i="1" dirty="0">
                <a:solidFill>
                  <a:srgbClr val="0070C0"/>
                </a:solidFill>
              </a:rPr>
              <a:t>physical</a:t>
            </a:r>
            <a:r>
              <a:rPr lang="en-GB" dirty="0"/>
              <a:t> memory locations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5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Relocation with Relative Addressing</a:t>
            </a:r>
            <a:br>
              <a:rPr lang="en-GB" dirty="0"/>
            </a:br>
            <a:r>
              <a:rPr lang="en-US" dirty="0"/>
              <a:t>Logical </a:t>
            </a:r>
            <a:r>
              <a:rPr lang="en-US" dirty="0" err="1"/>
              <a:t>vs</a:t>
            </a:r>
            <a:r>
              <a:rPr lang="en-US" dirty="0"/>
              <a:t> Physical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4112674" cy="45259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Processes (programs in execution) should be able to reside at any location in memory</a:t>
            </a:r>
          </a:p>
          <a:p>
            <a:r>
              <a:rPr lang="en-US" dirty="0"/>
              <a:t>This is achieved by a </a:t>
            </a:r>
            <a:r>
              <a:rPr lang="en-US" b="1" dirty="0"/>
              <a:t>virtual</a:t>
            </a:r>
            <a:r>
              <a:rPr lang="en-US" dirty="0"/>
              <a:t> or “relative” addressing scheme, that calculates a “physical” memory address from the program-specific “logical” address</a:t>
            </a:r>
          </a:p>
          <a:p>
            <a:r>
              <a:rPr lang="en-US" dirty="0"/>
              <a:t>Logical address (also called “virtual” or “relative” address)</a:t>
            </a:r>
          </a:p>
          <a:p>
            <a:pPr lvl="1"/>
            <a:r>
              <a:rPr lang="en-US" dirty="0"/>
              <a:t>A value that specifies a generic location relative to the start of the program</a:t>
            </a:r>
          </a:p>
          <a:p>
            <a:r>
              <a:rPr lang="en-US" dirty="0"/>
              <a:t>Physical address</a:t>
            </a:r>
          </a:p>
          <a:p>
            <a:pPr lvl="1"/>
            <a:r>
              <a:rPr lang="en-US" dirty="0"/>
              <a:t>The actual address of a location in the physical memory of a computer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6067" y="2775660"/>
            <a:ext cx="1152128" cy="648072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1800" dirty="0">
                <a:solidFill>
                  <a:prstClr val="white"/>
                </a:solidFill>
                <a:latin typeface="Calibri"/>
              </a:rPr>
              <a:t>Processor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86155" y="1883430"/>
            <a:ext cx="1152128" cy="42640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endParaRPr lang="en-GB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68742" y="3999879"/>
            <a:ext cx="933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Physical</a:t>
            </a:r>
          </a:p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Address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8240" y="5345345"/>
            <a:ext cx="987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Main</a:t>
            </a:r>
          </a:p>
          <a:p>
            <a:pPr algn="ctr"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Memory</a:t>
            </a:r>
          </a:p>
        </p:txBody>
      </p:sp>
      <p:sp>
        <p:nvSpPr>
          <p:cNvPr id="8" name="Folded Corner 7"/>
          <p:cNvSpPr/>
          <p:nvPr/>
        </p:nvSpPr>
        <p:spPr>
          <a:xfrm>
            <a:off x="8868240" y="2775660"/>
            <a:ext cx="987958" cy="110000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5986" y="3423732"/>
            <a:ext cx="99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Program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1615" y="3030350"/>
            <a:ext cx="1026066" cy="16748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dirty="0">
                <a:solidFill>
                  <a:prstClr val="white"/>
                </a:solidFill>
                <a:latin typeface="Calibri"/>
              </a:rPr>
              <a:t>Instruction</a:t>
            </a:r>
          </a:p>
        </p:txBody>
      </p:sp>
      <p:sp>
        <p:nvSpPr>
          <p:cNvPr id="11" name="Folded Corner 10"/>
          <p:cNvSpPr/>
          <p:nvPr/>
        </p:nvSpPr>
        <p:spPr>
          <a:xfrm>
            <a:off x="8868240" y="3895114"/>
            <a:ext cx="987958" cy="735783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24747" y="4178967"/>
            <a:ext cx="625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Data</a:t>
            </a:r>
          </a:p>
        </p:txBody>
      </p:sp>
      <p:sp>
        <p:nvSpPr>
          <p:cNvPr id="13" name="Folded Corner 12"/>
          <p:cNvSpPr/>
          <p:nvPr/>
        </p:nvSpPr>
        <p:spPr>
          <a:xfrm>
            <a:off x="8868241" y="4652721"/>
            <a:ext cx="996135" cy="36933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24747" y="465272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Stack</a:t>
            </a:r>
          </a:p>
        </p:txBody>
      </p:sp>
      <p:sp>
        <p:nvSpPr>
          <p:cNvPr id="15" name="Folded Corner 14"/>
          <p:cNvSpPr/>
          <p:nvPr/>
        </p:nvSpPr>
        <p:spPr>
          <a:xfrm>
            <a:off x="8868240" y="1978601"/>
            <a:ext cx="987958" cy="376429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5986" y="1985697"/>
            <a:ext cx="998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600" dirty="0">
                <a:solidFill>
                  <a:prstClr val="black"/>
                </a:solidFill>
                <a:latin typeface="Calibri"/>
              </a:rPr>
              <a:t>OS Kernel</a:t>
            </a:r>
          </a:p>
        </p:txBody>
      </p:sp>
      <p:cxnSp>
        <p:nvCxnSpPr>
          <p:cNvPr id="17" name="Straight Connector 16"/>
          <p:cNvCxnSpPr>
            <a:endCxn id="4" idx="2"/>
          </p:cNvCxnSpPr>
          <p:nvPr/>
        </p:nvCxnSpPr>
        <p:spPr>
          <a:xfrm flipV="1">
            <a:off x="7072131" y="3423733"/>
            <a:ext cx="0" cy="915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072131" y="4338849"/>
            <a:ext cx="17140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7768741" y="3141132"/>
            <a:ext cx="123287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Brace 19"/>
          <p:cNvSpPr/>
          <p:nvPr/>
        </p:nvSpPr>
        <p:spPr>
          <a:xfrm>
            <a:off x="9980609" y="2775660"/>
            <a:ext cx="271513" cy="22463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63460" y="2963146"/>
            <a:ext cx="271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Process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6067" y="4113076"/>
            <a:ext cx="1152128" cy="648072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1800" dirty="0">
                <a:solidFill>
                  <a:prstClr val="white"/>
                </a:solidFill>
                <a:latin typeface="Calibri"/>
              </a:rPr>
              <a:t>MMU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2695" y="2817967"/>
            <a:ext cx="933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Logical</a:t>
            </a:r>
          </a:p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Address</a:t>
            </a:r>
          </a:p>
        </p:txBody>
      </p:sp>
    </p:spTree>
    <p:extLst>
      <p:ext uri="{BB962C8B-B14F-4D97-AF65-F5344CB8AC3E}">
        <p14:creationId xmlns:p14="http://schemas.microsoft.com/office/powerpoint/2010/main" val="3119458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Relocation with Relative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8113" y="1529906"/>
            <a:ext cx="3617345" cy="4525963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Address translation with hardware</a:t>
            </a:r>
          </a:p>
          <a:p>
            <a:r>
              <a:rPr lang="en-GB" dirty="0"/>
              <a:t>Two registers</a:t>
            </a:r>
          </a:p>
          <a:p>
            <a:pPr lvl="1"/>
            <a:r>
              <a:rPr lang="en-GB" dirty="0"/>
              <a:t>Base register: physical start address of the process image in memory</a:t>
            </a:r>
          </a:p>
          <a:p>
            <a:pPr lvl="1"/>
            <a:r>
              <a:rPr lang="en-GB" dirty="0"/>
              <a:t>Bound register: physical end address of the process image in memory</a:t>
            </a:r>
          </a:p>
          <a:p>
            <a:endParaRPr lang="en-US" dirty="0"/>
          </a:p>
        </p:txBody>
      </p:sp>
      <p:pic>
        <p:nvPicPr>
          <p:cNvPr id="4" name="Content Placeholder 3" descr="Fig07_08.gif"/>
          <p:cNvPicPr>
            <a:picLocks noChangeAspect="1"/>
          </p:cNvPicPr>
          <p:nvPr/>
        </p:nvPicPr>
        <p:blipFill>
          <a:blip r:embed="rId2" cstate="print"/>
          <a:srcRect l="2825" t="-213" r="5642" b="15793"/>
          <a:stretch>
            <a:fillRect/>
          </a:stretch>
        </p:blipFill>
        <p:spPr>
          <a:xfrm>
            <a:off x="5399052" y="1231332"/>
            <a:ext cx="5184576" cy="48245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99053" y="1977656"/>
            <a:ext cx="3121179" cy="20627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1602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Memory Waste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“Not all programs are equal”</a:t>
            </a:r>
          </a:p>
          <a:p>
            <a:r>
              <a:rPr lang="en-US" dirty="0"/>
              <a:t>Programs may be of different size and, therefore, different memory requirements</a:t>
            </a:r>
          </a:p>
          <a:p>
            <a:r>
              <a:rPr lang="en-US" dirty="0"/>
              <a:t>We can load a program only into a partition that provide enough space</a:t>
            </a:r>
          </a:p>
          <a:p>
            <a:r>
              <a:rPr lang="en-US" dirty="0"/>
              <a:t>If program is smaller than partition – memory waste, cannot be allocated to another program</a:t>
            </a:r>
          </a:p>
          <a:p>
            <a:r>
              <a:rPr lang="en-US" dirty="0"/>
              <a:t>If a program is larger, we cannot run it</a:t>
            </a:r>
          </a:p>
        </p:txBody>
      </p:sp>
    </p:spTree>
    <p:extLst>
      <p:ext uri="{BB962C8B-B14F-4D97-AF65-F5344CB8AC3E}">
        <p14:creationId xmlns:p14="http://schemas.microsoft.com/office/powerpoint/2010/main" val="960069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Problem: Internal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Inefficient use of main memory</a:t>
            </a:r>
          </a:p>
          <a:p>
            <a:pPr lvl="1"/>
            <a:r>
              <a:rPr lang="en-GB" dirty="0"/>
              <a:t>Process image may not use the complete partition, some waste of memory inside the partition</a:t>
            </a:r>
          </a:p>
          <a:p>
            <a:pPr lvl="1"/>
            <a:r>
              <a:rPr lang="en-GB" dirty="0"/>
              <a:t>Waste of memory: unused fragments of a partition cannot be given to other processes</a:t>
            </a:r>
          </a:p>
          <a:p>
            <a:r>
              <a:rPr lang="en-GB" dirty="0"/>
              <a:t>This phenomenon is called </a:t>
            </a:r>
            <a:r>
              <a:rPr lang="en-GB" b="1" i="1" dirty="0"/>
              <a:t>internal fragmentation</a:t>
            </a:r>
          </a:p>
          <a:p>
            <a:pPr lvl="1"/>
            <a:r>
              <a:rPr lang="en-GB" dirty="0"/>
              <a:t>Partition is not completely used</a:t>
            </a:r>
          </a:p>
          <a:p>
            <a:pPr lvl="1"/>
            <a:r>
              <a:rPr lang="en-GB" dirty="0"/>
              <a:t>the block of data loaded (swapped in) is smaller than the partition</a:t>
            </a:r>
          </a:p>
          <a:p>
            <a:r>
              <a:rPr lang="en-GB" dirty="0"/>
              <a:t>Whenever there is a fixed-size partitioning, internal fragmentation may occur</a:t>
            </a:r>
          </a:p>
        </p:txBody>
      </p:sp>
    </p:spTree>
    <p:extLst>
      <p:ext uri="{BB962C8B-B14F-4D97-AF65-F5344CB8AC3E}">
        <p14:creationId xmlns:p14="http://schemas.microsoft.com/office/powerpoint/2010/main" val="1950968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Fixed Partitioning, Unequal Size</a:t>
            </a:r>
            <a:br>
              <a:rPr lang="en-GB" dirty="0"/>
            </a:br>
            <a:r>
              <a:rPr lang="en-GB" sz="2400" dirty="0"/>
              <a:t>Minimize Internal Fragmentation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7067128" cy="4525963"/>
          </a:xfrm>
        </p:spPr>
        <p:txBody>
          <a:bodyPr>
            <a:normAutofit fontScale="92500"/>
          </a:bodyPr>
          <a:lstStyle/>
          <a:p>
            <a:r>
              <a:rPr lang="en-GB" dirty="0"/>
              <a:t>Using unequal partitions helps to lessen the problem of internal fragmentation</a:t>
            </a:r>
          </a:p>
          <a:p>
            <a:pPr lvl="1"/>
            <a:r>
              <a:rPr lang="en-GB" dirty="0"/>
              <a:t>Partitions of different sizes pre-allocated in memory</a:t>
            </a:r>
          </a:p>
          <a:p>
            <a:pPr lvl="1"/>
            <a:r>
              <a:rPr lang="en-GB" dirty="0"/>
              <a:t>Processes are placed into partitions where they fit best to minimize internal fragmentation</a:t>
            </a:r>
          </a:p>
          <a:p>
            <a:r>
              <a:rPr lang="en-GB" dirty="0"/>
              <a:t>Tries to minimise internal fragmentation</a:t>
            </a:r>
          </a:p>
          <a:p>
            <a:r>
              <a:rPr lang="en-GB" dirty="0"/>
              <a:t>Doesn’t solve the problem completely</a:t>
            </a:r>
          </a:p>
        </p:txBody>
      </p:sp>
      <p:pic>
        <p:nvPicPr>
          <p:cNvPr id="4" name="Content Placeholder 3" descr="Fig07_02.gif"/>
          <p:cNvPicPr>
            <a:picLocks noChangeAspect="1"/>
          </p:cNvPicPr>
          <p:nvPr/>
        </p:nvPicPr>
        <p:blipFill>
          <a:blip r:embed="rId2" cstate="print"/>
          <a:srcRect l="61395" r="3794" b="12956"/>
          <a:stretch>
            <a:fillRect/>
          </a:stretch>
        </p:blipFill>
        <p:spPr bwMode="auto">
          <a:xfrm>
            <a:off x="8904312" y="1340769"/>
            <a:ext cx="1584176" cy="5217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4580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Process Replacement </a:t>
            </a:r>
            <a:br>
              <a:rPr lang="en-GB" dirty="0"/>
            </a:br>
            <a:r>
              <a:rPr lang="en-GB" sz="2200" dirty="0"/>
              <a:t>Memory Assignment Problem</a:t>
            </a:r>
            <a:endParaRPr lang="en-GB" dirty="0"/>
          </a:p>
        </p:txBody>
      </p:sp>
      <p:pic>
        <p:nvPicPr>
          <p:cNvPr id="4" name="Content Placeholder 3" descr="Fig07_03.gif"/>
          <p:cNvPicPr>
            <a:picLocks noChangeAspect="1"/>
          </p:cNvPicPr>
          <p:nvPr/>
        </p:nvPicPr>
        <p:blipFill>
          <a:blip r:embed="rId2" cstate="print"/>
          <a:srcRect t="-1415" b="11875"/>
          <a:stretch>
            <a:fillRect/>
          </a:stretch>
        </p:blipFill>
        <p:spPr>
          <a:xfrm>
            <a:off x="4235896" y="2636912"/>
            <a:ext cx="6324600" cy="410445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2"/>
            <a:ext cx="8219256" cy="1468759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Unequal size creates another problem: how to best assign a memory partition?</a:t>
            </a:r>
          </a:p>
          <a:p>
            <a:r>
              <a:rPr lang="en-GB" dirty="0"/>
              <a:t>With unequal-size partitions, there are two possible ways to assign processes to partitions</a:t>
            </a:r>
          </a:p>
          <a:p>
            <a:pPr lvl="1"/>
            <a:r>
              <a:rPr lang="en-GB" dirty="0"/>
              <a:t>One queue per partition, holding swapped-out processes that wait for this partition to become available again</a:t>
            </a:r>
          </a:p>
          <a:p>
            <a:pPr lvl="1"/>
            <a:r>
              <a:rPr lang="en-GB" dirty="0"/>
              <a:t>One single queue for all</a:t>
            </a:r>
          </a:p>
        </p:txBody>
      </p:sp>
    </p:spTree>
    <p:extLst>
      <p:ext uri="{BB962C8B-B14F-4D97-AF65-F5344CB8AC3E}">
        <p14:creationId xmlns:p14="http://schemas.microsoft.com/office/powerpoint/2010/main" val="4192926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Dynamic Partitioning</a:t>
            </a:r>
            <a:br>
              <a:rPr lang="en-GB" dirty="0"/>
            </a:br>
            <a:r>
              <a:rPr lang="en-GB" sz="3100" dirty="0"/>
              <a:t>On-demand allocation of a</a:t>
            </a:r>
            <a:r>
              <a:rPr lang="en-GB" sz="2800" dirty="0"/>
              <a:t> </a:t>
            </a:r>
            <a:r>
              <a:rPr lang="en-GB" sz="3100" dirty="0"/>
              <a:t>Slice of Memory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No pre-partition at system start, memory is one contiguous partition</a:t>
            </a:r>
          </a:p>
          <a:p>
            <a:r>
              <a:rPr lang="en-GB" dirty="0"/>
              <a:t>Processes that are swapped in are allocated the exact amount of memory needed</a:t>
            </a:r>
          </a:p>
          <a:p>
            <a:r>
              <a:rPr lang="en-GB" dirty="0"/>
              <a:t>Partitions are of variable length and number</a:t>
            </a:r>
          </a:p>
          <a:p>
            <a:pPr lvl="1"/>
            <a:r>
              <a:rPr lang="en-GB" dirty="0"/>
              <a:t>Have the exact size needed</a:t>
            </a:r>
          </a:p>
          <a:p>
            <a:r>
              <a:rPr lang="en-GB" dirty="0"/>
              <a:t>Memory is allocated “on-demand” to processes</a:t>
            </a:r>
          </a:p>
          <a:p>
            <a:pPr lvl="1"/>
            <a:r>
              <a:rPr lang="en-GB" dirty="0"/>
              <a:t>When a new process arrives or is swapped in, the exact amount of memory needed by the process is allocated as a partition</a:t>
            </a:r>
          </a:p>
          <a:p>
            <a:r>
              <a:rPr lang="en-GB" dirty="0"/>
              <a:t>When a process terminates or is swapped out, the partition is released</a:t>
            </a:r>
          </a:p>
        </p:txBody>
      </p:sp>
    </p:spTree>
    <p:extLst>
      <p:ext uri="{BB962C8B-B14F-4D97-AF65-F5344CB8AC3E}">
        <p14:creationId xmlns:p14="http://schemas.microsoft.com/office/powerpoint/2010/main" val="2864400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Effect of Dynamic Partitioning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rcRect b="10514"/>
          <a:stretch>
            <a:fillRect/>
          </a:stretch>
        </p:blipFill>
        <p:spPr>
          <a:xfrm>
            <a:off x="3431705" y="1412776"/>
            <a:ext cx="4988035" cy="504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6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Problem: External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25144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Dynamic Partitioning</a:t>
            </a:r>
          </a:p>
          <a:p>
            <a:pPr lvl="1"/>
            <a:r>
              <a:rPr lang="en-GB" dirty="0"/>
              <a:t>Over time, fragmentation of memory into smaller and smaller pieces occurs (“garbage”)</a:t>
            </a:r>
          </a:p>
          <a:p>
            <a:pPr lvl="1"/>
            <a:r>
              <a:rPr lang="en-GB" dirty="0"/>
              <a:t>If a free </a:t>
            </a:r>
            <a:r>
              <a:rPr lang="en-GB" i="1" dirty="0"/>
              <a:t>contiguous</a:t>
            </a:r>
            <a:r>
              <a:rPr lang="en-GB" dirty="0"/>
              <a:t> space is large enough, it can be re-allocated for new processes</a:t>
            </a:r>
          </a:p>
          <a:p>
            <a:pPr lvl="1"/>
            <a:r>
              <a:rPr lang="en-GB" dirty="0"/>
              <a:t>If free space is too small for new processes, it remains unused</a:t>
            </a:r>
          </a:p>
          <a:p>
            <a:pPr lvl="2"/>
            <a:r>
              <a:rPr lang="en-GB" dirty="0"/>
              <a:t>Processes must wait for memory large enough to become available</a:t>
            </a:r>
          </a:p>
          <a:p>
            <a:r>
              <a:rPr lang="en-GB" b="1" dirty="0"/>
              <a:t>External fragmentation</a:t>
            </a:r>
          </a:p>
          <a:p>
            <a:pPr lvl="1"/>
            <a:r>
              <a:rPr lang="en-GB" dirty="0"/>
              <a:t>Waste of memory outside partitions, free memory areas too small for re-allocation</a:t>
            </a:r>
          </a:p>
          <a:p>
            <a:r>
              <a:rPr lang="en-GB" dirty="0"/>
              <a:t>Whenever there is a variable-size partitioning, external fragmentation may occur</a:t>
            </a:r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176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Strategy: Compaction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To overcome external fragmentation, a technique called </a:t>
            </a:r>
            <a:r>
              <a:rPr lang="en-GB" i="1" dirty="0"/>
              <a:t>Compaction</a:t>
            </a:r>
            <a:r>
              <a:rPr lang="en-GB" dirty="0"/>
              <a:t> was proposed:</a:t>
            </a:r>
          </a:p>
          <a:p>
            <a:pPr lvl="1"/>
            <a:r>
              <a:rPr lang="en-GB" dirty="0"/>
              <a:t>This is a kind of “garbage collection”</a:t>
            </a:r>
          </a:p>
          <a:p>
            <a:pPr lvl="1"/>
            <a:r>
              <a:rPr lang="en-GB" dirty="0"/>
              <a:t>partitions with assigned processes are shifted to collect free memory in one contiguous block</a:t>
            </a:r>
          </a:p>
          <a:p>
            <a:r>
              <a:rPr lang="en-GB" dirty="0"/>
              <a:t>However: Compaction requires dynamic relocation capabilities in an operating system</a:t>
            </a:r>
          </a:p>
          <a:p>
            <a:pPr lvl="1"/>
            <a:r>
              <a:rPr lang="en-GB" dirty="0"/>
              <a:t>It must be possible to move programs in memory and re-adjust their memory references</a:t>
            </a:r>
          </a:p>
          <a:p>
            <a:pPr lvl="1"/>
            <a:r>
              <a:rPr lang="en-GB" dirty="0"/>
              <a:t>Is time consuming and a waste of CPU time</a:t>
            </a:r>
          </a:p>
        </p:txBody>
      </p:sp>
    </p:spTree>
    <p:extLst>
      <p:ext uri="{BB962C8B-B14F-4D97-AF65-F5344CB8AC3E}">
        <p14:creationId xmlns:p14="http://schemas.microsoft.com/office/powerpoint/2010/main" val="1230324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Placement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Memory compaction is costly, therefore try to allocate free memory for processes intelligently</a:t>
            </a:r>
          </a:p>
          <a:p>
            <a:r>
              <a:rPr lang="en-GB" dirty="0"/>
              <a:t>Three methods</a:t>
            </a:r>
          </a:p>
          <a:p>
            <a:pPr lvl="1"/>
            <a:r>
              <a:rPr lang="en-GB" dirty="0"/>
              <a:t>Best-fit</a:t>
            </a:r>
          </a:p>
          <a:p>
            <a:pPr lvl="2"/>
            <a:r>
              <a:rPr lang="en-GB" dirty="0"/>
              <a:t>Find the smallest partition needed</a:t>
            </a:r>
          </a:p>
          <a:p>
            <a:pPr lvl="1"/>
            <a:r>
              <a:rPr lang="en-GB" dirty="0"/>
              <a:t>First-fit</a:t>
            </a:r>
          </a:p>
          <a:p>
            <a:pPr lvl="2"/>
            <a:r>
              <a:rPr lang="en-GB" dirty="0"/>
              <a:t>Start scanning memory from its start address and take the first free block that is large enough</a:t>
            </a:r>
          </a:p>
          <a:p>
            <a:pPr lvl="1"/>
            <a:r>
              <a:rPr lang="en-GB" dirty="0"/>
              <a:t>Next-fit</a:t>
            </a:r>
          </a:p>
          <a:p>
            <a:pPr lvl="2"/>
            <a:r>
              <a:rPr lang="en-GB" dirty="0"/>
              <a:t>Continue scanning memory for free space from last allocation position</a:t>
            </a:r>
          </a:p>
        </p:txBody>
      </p:sp>
    </p:spTree>
    <p:extLst>
      <p:ext uri="{BB962C8B-B14F-4D97-AF65-F5344CB8AC3E}">
        <p14:creationId xmlns:p14="http://schemas.microsoft.com/office/powerpoint/2010/main" val="2132686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Buddy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Tries to fix the problems of both static and dynamic partitioning</a:t>
            </a:r>
          </a:p>
          <a:p>
            <a:r>
              <a:rPr lang="en-GB" dirty="0"/>
              <a:t>Combines fixed and dynamic partitioning scheme</a:t>
            </a:r>
          </a:p>
          <a:p>
            <a:pPr lvl="1"/>
            <a:r>
              <a:rPr lang="en-GB" dirty="0"/>
              <a:t>Is either allocating a complete block that is small enough for a process or splitting a block into two equal “buddies” to get a better fit</a:t>
            </a:r>
          </a:p>
          <a:p>
            <a:r>
              <a:rPr lang="en-GB" dirty="0"/>
              <a:t>Minimize internal fragmentation</a:t>
            </a:r>
          </a:p>
          <a:p>
            <a:r>
              <a:rPr lang="en-GB" dirty="0"/>
              <a:t>Allows the creation of variable sized partitions, however the size of a partition is always 2</a:t>
            </a:r>
            <a:r>
              <a:rPr lang="en-GB" baseline="30000" dirty="0"/>
              <a:t>N</a:t>
            </a:r>
          </a:p>
          <a:p>
            <a:pPr lvl="1"/>
            <a:r>
              <a:rPr lang="en-GB" dirty="0"/>
              <a:t>A relationship between these partitions is maintained</a:t>
            </a:r>
          </a:p>
        </p:txBody>
      </p:sp>
    </p:spTree>
    <p:extLst>
      <p:ext uri="{BB962C8B-B14F-4D97-AF65-F5344CB8AC3E}">
        <p14:creationId xmlns:p14="http://schemas.microsoft.com/office/powerpoint/2010/main" val="2733636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Tree Representation of Buddy System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rcRect b="12488"/>
          <a:stretch>
            <a:fillRect/>
          </a:stretch>
        </p:blipFill>
        <p:spPr>
          <a:xfrm>
            <a:off x="2783632" y="1700808"/>
            <a:ext cx="6385000" cy="482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56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Buddy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501008"/>
            <a:ext cx="8229600" cy="288032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Maintains relationship between partitions</a:t>
            </a:r>
          </a:p>
          <a:p>
            <a:pPr lvl="1"/>
            <a:r>
              <a:rPr lang="en-GB" dirty="0"/>
              <a:t>If a partition itself is partitioned into two new and smaller partitions, then they are related</a:t>
            </a:r>
          </a:p>
          <a:p>
            <a:pPr lvl="1"/>
            <a:r>
              <a:rPr lang="en-GB" dirty="0"/>
              <a:t>Related free partitions can be recombined into a larger contiguous space, as OS knows their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7608" y="1772816"/>
            <a:ext cx="6624736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000" baseline="30000" dirty="0">
                <a:solidFill>
                  <a:prstClr val="black"/>
                </a:solidFill>
                <a:latin typeface="Calibri"/>
              </a:rPr>
              <a:t>U</a:t>
            </a:r>
          </a:p>
        </p:txBody>
      </p:sp>
      <p:sp>
        <p:nvSpPr>
          <p:cNvPr id="5" name="Rectangle 4"/>
          <p:cNvSpPr/>
          <p:nvPr/>
        </p:nvSpPr>
        <p:spPr>
          <a:xfrm>
            <a:off x="2351584" y="2636912"/>
            <a:ext cx="3312368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000" baseline="30000" dirty="0">
                <a:solidFill>
                  <a:prstClr val="black"/>
                </a:solidFill>
                <a:latin typeface="Calibri"/>
              </a:rPr>
              <a:t>U-1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2636912"/>
            <a:ext cx="3312368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000" baseline="30000" dirty="0">
                <a:solidFill>
                  <a:prstClr val="black"/>
                </a:solidFill>
                <a:latin typeface="Calibri"/>
              </a:rPr>
              <a:t>U-1</a:t>
            </a:r>
          </a:p>
        </p:txBody>
      </p:sp>
      <p:cxnSp>
        <p:nvCxnSpPr>
          <p:cNvPr id="7" name="Straight Arrow Connector 6"/>
          <p:cNvCxnSpPr>
            <a:stCxn id="4" idx="2"/>
            <a:endCxn id="5" idx="0"/>
          </p:cNvCxnSpPr>
          <p:nvPr/>
        </p:nvCxnSpPr>
        <p:spPr>
          <a:xfrm flipH="1">
            <a:off x="4007768" y="2132856"/>
            <a:ext cx="1872208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2"/>
            <a:endCxn id="6" idx="0"/>
          </p:cNvCxnSpPr>
          <p:nvPr/>
        </p:nvCxnSpPr>
        <p:spPr>
          <a:xfrm>
            <a:off x="5879976" y="2132856"/>
            <a:ext cx="1872208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99856" y="1340768"/>
            <a:ext cx="216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(e.g. 1 </a:t>
            </a:r>
            <a:r>
              <a:rPr lang="en-GB" sz="1800" dirty="0" err="1">
                <a:solidFill>
                  <a:prstClr val="black"/>
                </a:solidFill>
                <a:latin typeface="Calibri"/>
              </a:rPr>
              <a:t>kB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 = </a:t>
            </a:r>
            <a:r>
              <a:rPr lang="en-GB" sz="1800" b="1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1800" b="1" baseline="30000" dirty="0">
                <a:solidFill>
                  <a:prstClr val="black"/>
                </a:solidFill>
                <a:latin typeface="Calibri"/>
              </a:rPr>
              <a:t>10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 bytes)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2064" y="2926685"/>
            <a:ext cx="2041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GB" sz="1800" dirty="0" err="1">
                <a:solidFill>
                  <a:prstClr val="black"/>
                </a:solidFill>
                <a:latin typeface="Calibri"/>
              </a:rPr>
              <a:t>e,g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. 512 bytes = </a:t>
            </a:r>
            <a:r>
              <a:rPr lang="en-GB" sz="1800" b="1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1800" b="1" baseline="30000" dirty="0">
                <a:solidFill>
                  <a:prstClr val="black"/>
                </a:solidFill>
                <a:latin typeface="Calibri"/>
              </a:rPr>
              <a:t>9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)</a:t>
            </a:r>
            <a:endParaRPr lang="en-GB" sz="18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99656" y="2926685"/>
            <a:ext cx="2041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GB" sz="1800" dirty="0" err="1">
                <a:solidFill>
                  <a:prstClr val="black"/>
                </a:solidFill>
                <a:latin typeface="Calibri"/>
              </a:rPr>
              <a:t>e,g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. 512 bytes = </a:t>
            </a:r>
            <a:r>
              <a:rPr lang="en-GB" sz="1800" b="1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1800" b="1" baseline="30000" dirty="0">
                <a:solidFill>
                  <a:prstClr val="black"/>
                </a:solidFill>
                <a:latin typeface="Calibri"/>
              </a:rPr>
              <a:t>9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)</a:t>
            </a:r>
            <a:endParaRPr lang="en-GB" sz="1800" baseline="300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2872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Buddy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Start: entire available space for allocation is treated as a single block of size </a:t>
            </a:r>
            <a:r>
              <a:rPr lang="en-GB" i="1" dirty="0"/>
              <a:t>2</a:t>
            </a:r>
            <a:r>
              <a:rPr lang="en-GB" i="1" baseline="30000" dirty="0"/>
              <a:t>U</a:t>
            </a:r>
          </a:p>
          <a:p>
            <a:r>
              <a:rPr lang="en-GB" dirty="0"/>
              <a:t>Process arrives, a memory block of size S is needed:</a:t>
            </a:r>
          </a:p>
          <a:p>
            <a:pPr lvl="1"/>
            <a:r>
              <a:rPr lang="en-GB" dirty="0"/>
              <a:t>If for the request </a:t>
            </a:r>
            <a:r>
              <a:rPr lang="en-GB" i="1" dirty="0"/>
              <a:t>2</a:t>
            </a:r>
            <a:r>
              <a:rPr lang="en-GB" i="1" baseline="30000" dirty="0"/>
              <a:t>U-1</a:t>
            </a:r>
            <a:r>
              <a:rPr lang="en-GB" dirty="0"/>
              <a:t> &lt; S &lt;= </a:t>
            </a:r>
            <a:r>
              <a:rPr lang="en-GB" i="1" dirty="0"/>
              <a:t>2</a:t>
            </a:r>
            <a:r>
              <a:rPr lang="en-GB" i="1" baseline="30000" dirty="0"/>
              <a:t>U</a:t>
            </a:r>
            <a:r>
              <a:rPr lang="en-GB" dirty="0"/>
              <a:t> holds, then a block with size </a:t>
            </a:r>
            <a:r>
              <a:rPr lang="en-GB" i="1" dirty="0"/>
              <a:t>2</a:t>
            </a:r>
            <a:r>
              <a:rPr lang="en-GB" i="1" baseline="30000" dirty="0"/>
              <a:t>U</a:t>
            </a:r>
            <a:r>
              <a:rPr lang="en-GB" dirty="0"/>
              <a:t> is allocated</a:t>
            </a:r>
          </a:p>
          <a:p>
            <a:pPr lvl="1"/>
            <a:r>
              <a:rPr lang="en-GB" dirty="0"/>
              <a:t>Otherwise, the block of size </a:t>
            </a:r>
            <a:r>
              <a:rPr lang="en-GB" i="1" dirty="0"/>
              <a:t>2</a:t>
            </a:r>
            <a:r>
              <a:rPr lang="en-GB" i="1" baseline="30000" dirty="0"/>
              <a:t>U</a:t>
            </a:r>
            <a:r>
              <a:rPr lang="en-GB" dirty="0"/>
              <a:t> is split into two “buddies” of size </a:t>
            </a:r>
            <a:r>
              <a:rPr lang="en-GB" i="1" dirty="0"/>
              <a:t>2</a:t>
            </a:r>
            <a:r>
              <a:rPr lang="en-GB" i="1" baseline="30000" dirty="0"/>
              <a:t>U-1</a:t>
            </a:r>
            <a:endParaRPr lang="en-GB" dirty="0"/>
          </a:p>
          <a:p>
            <a:pPr lvl="1"/>
            <a:r>
              <a:rPr lang="en-GB" dirty="0"/>
              <a:t>This continues, until the smallest block greater or equal to the requested size </a:t>
            </a:r>
            <a:r>
              <a:rPr lang="en-GB" i="1" dirty="0"/>
              <a:t>S</a:t>
            </a:r>
            <a:r>
              <a:rPr lang="en-GB" dirty="0"/>
              <a:t> is allocated</a:t>
            </a:r>
          </a:p>
          <a:p>
            <a:r>
              <a:rPr lang="en-GB" dirty="0"/>
              <a:t>If blocks become free, they can be recombined into the original contiguous blocks</a:t>
            </a:r>
          </a:p>
          <a:p>
            <a:pPr lvl="1"/>
            <a:r>
              <a:rPr lang="en-GB" dirty="0"/>
              <a:t>This avoids memory fragmentation and the need for compaction</a:t>
            </a:r>
          </a:p>
        </p:txBody>
      </p:sp>
    </p:spTree>
    <p:extLst>
      <p:ext uri="{BB962C8B-B14F-4D97-AF65-F5344CB8AC3E}">
        <p14:creationId xmlns:p14="http://schemas.microsoft.com/office/powerpoint/2010/main" val="1201099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Buddy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501008"/>
            <a:ext cx="8229600" cy="288032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When memory is allocated, it is always allocated in blocks of size </a:t>
            </a:r>
            <a:r>
              <a:rPr lang="en-GB" i="1" dirty="0"/>
              <a:t>2</a:t>
            </a:r>
            <a:r>
              <a:rPr lang="en-GB" i="1" baseline="30000" dirty="0"/>
              <a:t>K</a:t>
            </a:r>
            <a:r>
              <a:rPr lang="en-GB" dirty="0"/>
              <a:t>, so that</a:t>
            </a:r>
          </a:p>
          <a:p>
            <a:pPr lvl="1"/>
            <a:r>
              <a:rPr lang="en-GB" i="1" dirty="0"/>
              <a:t>2</a:t>
            </a:r>
            <a:r>
              <a:rPr lang="en-GB" i="1" baseline="30000" dirty="0"/>
              <a:t>K</a:t>
            </a:r>
            <a:r>
              <a:rPr lang="en-GB" dirty="0"/>
              <a:t> is the best fit for a requested memory of size </a:t>
            </a:r>
            <a:r>
              <a:rPr lang="en-GB" i="1" dirty="0"/>
              <a:t>S</a:t>
            </a:r>
            <a:r>
              <a:rPr lang="en-GB" dirty="0"/>
              <a:t> ≤ </a:t>
            </a:r>
            <a:r>
              <a:rPr lang="en-GB" i="1" dirty="0"/>
              <a:t>2</a:t>
            </a:r>
            <a:r>
              <a:rPr lang="en-GB" i="1" baseline="30000" dirty="0"/>
              <a:t>K</a:t>
            </a:r>
          </a:p>
          <a:p>
            <a:pPr lvl="1"/>
            <a:r>
              <a:rPr lang="en-GB" dirty="0"/>
              <a:t>If we have a block of size </a:t>
            </a:r>
            <a:r>
              <a:rPr lang="en-GB" i="1" dirty="0"/>
              <a:t>2</a:t>
            </a:r>
            <a:r>
              <a:rPr lang="en-GB" i="1" baseline="30000" dirty="0"/>
              <a:t>U</a:t>
            </a:r>
            <a:r>
              <a:rPr lang="en-GB" dirty="0"/>
              <a:t> that is too large, it is split into two blocks of size </a:t>
            </a:r>
            <a:r>
              <a:rPr lang="en-GB" i="1" dirty="0"/>
              <a:t>2</a:t>
            </a:r>
            <a:r>
              <a:rPr lang="en-GB" i="1" baseline="30000" dirty="0"/>
              <a:t>U-1</a:t>
            </a:r>
            <a:r>
              <a:rPr lang="en-GB" dirty="0"/>
              <a:t> and again it is tested again whether </a:t>
            </a:r>
            <a:r>
              <a:rPr lang="en-GB" i="1" dirty="0"/>
              <a:t>2</a:t>
            </a:r>
            <a:r>
              <a:rPr lang="en-GB" i="1" baseline="30000" dirty="0"/>
              <a:t>U-1</a:t>
            </a:r>
            <a:r>
              <a:rPr lang="en-GB" dirty="0"/>
              <a:t> is a best fit for the requested memory of size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1584" y="2636912"/>
            <a:ext cx="2592288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1200" b="1" dirty="0">
                <a:solidFill>
                  <a:prstClr val="black"/>
                </a:solidFill>
                <a:latin typeface="Calibri"/>
              </a:rPr>
              <a:t>S = 100 </a:t>
            </a:r>
            <a:r>
              <a:rPr lang="en-GB" sz="1200" b="1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67608" y="1772816"/>
            <a:ext cx="6624736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000" baseline="30000" dirty="0">
                <a:solidFill>
                  <a:prstClr val="black"/>
                </a:solidFill>
                <a:latin typeface="Calibri"/>
              </a:rPr>
              <a:t>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1584" y="2636912"/>
            <a:ext cx="3312368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GB" sz="20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6000" y="2636912"/>
            <a:ext cx="3312368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000" baseline="30000" dirty="0">
                <a:solidFill>
                  <a:prstClr val="black"/>
                </a:solidFill>
                <a:latin typeface="Calibri"/>
              </a:rPr>
              <a:t>U-1</a:t>
            </a:r>
          </a:p>
        </p:txBody>
      </p:sp>
      <p:cxnSp>
        <p:nvCxnSpPr>
          <p:cNvPr id="21" name="Straight Arrow Connector 20"/>
          <p:cNvCxnSpPr>
            <a:stCxn id="18" idx="2"/>
            <a:endCxn id="19" idx="0"/>
          </p:cNvCxnSpPr>
          <p:nvPr/>
        </p:nvCxnSpPr>
        <p:spPr>
          <a:xfrm flipH="1">
            <a:off x="4007768" y="2132856"/>
            <a:ext cx="1872208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2"/>
            <a:endCxn id="20" idx="0"/>
          </p:cNvCxnSpPr>
          <p:nvPr/>
        </p:nvCxnSpPr>
        <p:spPr>
          <a:xfrm>
            <a:off x="5879976" y="2132856"/>
            <a:ext cx="1872208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99856" y="1340768"/>
            <a:ext cx="216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(e.g. 1 </a:t>
            </a:r>
            <a:r>
              <a:rPr lang="en-GB" sz="1800" dirty="0" err="1">
                <a:solidFill>
                  <a:prstClr val="black"/>
                </a:solidFill>
                <a:latin typeface="Calibri"/>
              </a:rPr>
              <a:t>kB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 = </a:t>
            </a:r>
            <a:r>
              <a:rPr lang="en-GB" sz="1800" b="1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1800" b="1" baseline="30000" dirty="0">
                <a:solidFill>
                  <a:prstClr val="black"/>
                </a:solidFill>
                <a:latin typeface="Calibri"/>
              </a:rPr>
              <a:t>10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 bytes)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2104" y="2924944"/>
            <a:ext cx="1650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(512 bytes = </a:t>
            </a:r>
            <a:r>
              <a:rPr lang="en-GB" sz="1800" b="1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1800" b="1" baseline="30000" dirty="0">
                <a:solidFill>
                  <a:prstClr val="black"/>
                </a:solidFill>
                <a:latin typeface="Calibri"/>
              </a:rPr>
              <a:t>9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)</a:t>
            </a:r>
            <a:endParaRPr lang="en-GB" sz="18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75520" y="2996952"/>
            <a:ext cx="425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E.g.: need 100 </a:t>
            </a:r>
            <a:r>
              <a:rPr lang="en-GB" sz="1800" dirty="0" err="1">
                <a:solidFill>
                  <a:prstClr val="black"/>
                </a:solidFill>
                <a:latin typeface="Calibri"/>
              </a:rPr>
              <a:t>kB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, allocate next best 128 </a:t>
            </a:r>
            <a:r>
              <a:rPr lang="en-GB" sz="1800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1800" baseline="30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935760" y="1196752"/>
            <a:ext cx="1368152" cy="1656184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19536" y="548681"/>
            <a:ext cx="2359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Waste</a:t>
            </a:r>
          </a:p>
          <a:p>
            <a:pPr algn="ctr"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Internal Fragmentation</a:t>
            </a:r>
          </a:p>
        </p:txBody>
      </p:sp>
    </p:spTree>
    <p:extLst>
      <p:ext uri="{BB962C8B-B14F-4D97-AF65-F5344CB8AC3E}">
        <p14:creationId xmlns:p14="http://schemas.microsoft.com/office/powerpoint/2010/main" val="1779892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Buddy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15680" y="1844824"/>
            <a:ext cx="6624736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b="1" dirty="0">
                <a:solidFill>
                  <a:prstClr val="black"/>
                </a:solidFill>
                <a:latin typeface="Calibri"/>
              </a:rPr>
              <a:t>1 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9537" y="1844824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Initially: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9537" y="2492896"/>
            <a:ext cx="247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Request: allocate </a:t>
            </a:r>
            <a:r>
              <a:rPr lang="en-GB" sz="1800" b="1" dirty="0">
                <a:solidFill>
                  <a:prstClr val="black"/>
                </a:solidFill>
                <a:latin typeface="Calibri"/>
              </a:rPr>
              <a:t>100 </a:t>
            </a:r>
            <a:r>
              <a:rPr lang="en-GB" sz="1800" b="1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1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0642" y="2852936"/>
            <a:ext cx="1553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28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800" baseline="30000" dirty="0">
                <a:solidFill>
                  <a:prstClr val="black"/>
                </a:solidFill>
                <a:latin typeface="Calibri"/>
              </a:rPr>
              <a:t>7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= 128kB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3792" y="2852936"/>
            <a:ext cx="1398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28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800" baseline="30000" dirty="0">
                <a:solidFill>
                  <a:prstClr val="black"/>
                </a:solidFill>
                <a:latin typeface="Calibri"/>
              </a:rPr>
              <a:t>6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= 64kB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3952" y="2924944"/>
            <a:ext cx="1388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2000" dirty="0">
                <a:solidFill>
                  <a:prstClr val="black"/>
                </a:solidFill>
                <a:latin typeface="Calibri"/>
              </a:rPr>
              <a:t>&lt; </a:t>
            </a:r>
            <a:r>
              <a:rPr lang="en-GB" sz="2000" b="1" dirty="0">
                <a:solidFill>
                  <a:srgbClr val="FF0000"/>
                </a:solidFill>
                <a:latin typeface="Calibri"/>
              </a:rPr>
              <a:t>100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prstClr val="black"/>
                </a:solidFill>
                <a:latin typeface="Calibri"/>
              </a:rPr>
              <a:t>kB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 &lt;=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51784" y="2924944"/>
            <a:ext cx="4464496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19536" y="3563724"/>
            <a:ext cx="2964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Split: create a 128kB partition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3672" y="4149080"/>
            <a:ext cx="864096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1800" b="1" dirty="0">
                <a:solidFill>
                  <a:prstClr val="black"/>
                </a:solidFill>
                <a:latin typeface="Calibri"/>
              </a:rPr>
              <a:t>128 </a:t>
            </a:r>
            <a:r>
              <a:rPr lang="en-GB" sz="1800" b="1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1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4149080"/>
            <a:ext cx="3312368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b="1" dirty="0">
                <a:solidFill>
                  <a:prstClr val="black"/>
                </a:solidFill>
                <a:latin typeface="Calibri"/>
              </a:rPr>
              <a:t>512 </a:t>
            </a:r>
            <a:r>
              <a:rPr lang="en-GB" sz="2000" b="1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71864" y="4149080"/>
            <a:ext cx="1656184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b="1" dirty="0">
                <a:solidFill>
                  <a:prstClr val="black"/>
                </a:solidFill>
                <a:latin typeface="Calibri"/>
              </a:rPr>
              <a:t>256 kB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07768" y="4149080"/>
            <a:ext cx="864096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1800" b="1" dirty="0">
                <a:solidFill>
                  <a:prstClr val="black"/>
                </a:solidFill>
                <a:latin typeface="Calibri"/>
              </a:rPr>
              <a:t>128 </a:t>
            </a:r>
            <a:r>
              <a:rPr lang="en-GB" sz="1800" b="1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1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19537" y="4869160"/>
            <a:ext cx="343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Allocate: load 100 </a:t>
            </a:r>
            <a:r>
              <a:rPr lang="en-GB" sz="1800" dirty="0" err="1">
                <a:solidFill>
                  <a:prstClr val="black"/>
                </a:solidFill>
                <a:latin typeface="Calibri"/>
              </a:rPr>
              <a:t>kB</a:t>
            </a:r>
            <a:r>
              <a:rPr lang="en-GB" sz="1800" dirty="0">
                <a:solidFill>
                  <a:prstClr val="black"/>
                </a:solidFill>
                <a:latin typeface="Calibri"/>
              </a:rPr>
              <a:t> into partition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43672" y="5373216"/>
            <a:ext cx="864096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1800" b="1" dirty="0">
                <a:solidFill>
                  <a:prstClr val="black"/>
                </a:solidFill>
                <a:latin typeface="Calibri"/>
              </a:rPr>
              <a:t>128 </a:t>
            </a:r>
            <a:r>
              <a:rPr lang="en-GB" sz="1800" b="1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1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28048" y="5373216"/>
            <a:ext cx="3312368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b="1" dirty="0">
                <a:solidFill>
                  <a:prstClr val="black"/>
                </a:solidFill>
                <a:latin typeface="Calibri"/>
              </a:rPr>
              <a:t>512 </a:t>
            </a:r>
            <a:r>
              <a:rPr lang="en-GB" sz="2000" b="1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71864" y="5373216"/>
            <a:ext cx="1656184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2000" b="1" dirty="0">
                <a:solidFill>
                  <a:prstClr val="black"/>
                </a:solidFill>
                <a:latin typeface="Calibri"/>
              </a:rPr>
              <a:t>256 kB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07768" y="5373216"/>
            <a:ext cx="864096" cy="36004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1800" b="1" dirty="0">
                <a:solidFill>
                  <a:prstClr val="black"/>
                </a:solidFill>
                <a:latin typeface="Calibri"/>
              </a:rPr>
              <a:t>128 </a:t>
            </a:r>
            <a:r>
              <a:rPr lang="en-GB" sz="1800" b="1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1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43672" y="5373216"/>
            <a:ext cx="720080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GB" sz="1400" b="1" dirty="0">
                <a:solidFill>
                  <a:prstClr val="black"/>
                </a:solidFill>
                <a:latin typeface="Calibri"/>
              </a:rPr>
              <a:t>100 </a:t>
            </a:r>
            <a:r>
              <a:rPr lang="en-GB" sz="1400" b="1" dirty="0" err="1">
                <a:solidFill>
                  <a:prstClr val="black"/>
                </a:solidFill>
                <a:latin typeface="Calibri"/>
              </a:rPr>
              <a:t>kB</a:t>
            </a:r>
            <a:endParaRPr lang="en-GB" sz="1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3935760" y="5805264"/>
            <a:ext cx="0" cy="3600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27649" y="6165304"/>
            <a:ext cx="2311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/>
              </a:rPr>
              <a:t>Internal fragmentation</a:t>
            </a:r>
          </a:p>
        </p:txBody>
      </p:sp>
    </p:spTree>
    <p:extLst>
      <p:ext uri="{BB962C8B-B14F-4D97-AF65-F5344CB8AC3E}">
        <p14:creationId xmlns:p14="http://schemas.microsoft.com/office/powerpoint/2010/main" val="2649843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F062-2D1A-3FA4-22A1-8F6B94F8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Buddy System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C5F2F-8D89-FB53-6C39-F8C8BFB7BD34}"/>
              </a:ext>
            </a:extLst>
          </p:cNvPr>
          <p:cNvSpPr txBox="1"/>
          <p:nvPr/>
        </p:nvSpPr>
        <p:spPr>
          <a:xfrm>
            <a:off x="1447800" y="1420266"/>
            <a:ext cx="661912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Assume we have a system with 1MiB of memory.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dirty="0"/>
              <a:t>Allocate 100KiB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dirty="0"/>
              <a:t>Allocate 50KiB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dirty="0"/>
              <a:t>Allocate 300KiB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dirty="0"/>
              <a:t>Deallocate 50KiB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dirty="0"/>
              <a:t>Allocate 200KiB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dirty="0"/>
              <a:t>Deallocate 100KiB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does memory look like?</a:t>
            </a:r>
          </a:p>
        </p:txBody>
      </p:sp>
    </p:spTree>
    <p:extLst>
      <p:ext uri="{BB962C8B-B14F-4D97-AF65-F5344CB8AC3E}">
        <p14:creationId xmlns:p14="http://schemas.microsoft.com/office/powerpoint/2010/main" val="1916282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DD07A-988B-17B3-8B8B-5A748537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16AB-E58E-3E06-9E69-AEF5A4E9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Buddy System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1FB5D-4E1F-04F7-832B-5CF07D0DF693}"/>
              </a:ext>
            </a:extLst>
          </p:cNvPr>
          <p:cNvSpPr txBox="1"/>
          <p:nvPr/>
        </p:nvSpPr>
        <p:spPr>
          <a:xfrm>
            <a:off x="1447800" y="1420266"/>
            <a:ext cx="2469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Allocate 100KiB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9C110-DA8D-FB9C-EBBA-0F5EDABBB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22600"/>
            <a:ext cx="77724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952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39A7-1C7E-B2D6-58F1-021E77774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FC07-AE38-FDF9-FDB5-82C61527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Buddy System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4A0C6-556E-B289-09E9-42C005A98B8D}"/>
              </a:ext>
            </a:extLst>
          </p:cNvPr>
          <p:cNvSpPr txBox="1"/>
          <p:nvPr/>
        </p:nvSpPr>
        <p:spPr>
          <a:xfrm>
            <a:off x="1447800" y="1420266"/>
            <a:ext cx="2314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Allocate 50KiB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166D8-6962-6407-7315-9753601C7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22600"/>
            <a:ext cx="77724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036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2F5C1-4DFD-320C-4475-0E050C7D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FA80-E16B-3FA2-7A37-2704A141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Buddy System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5E295-1919-C502-B5A4-CE427F5E155A}"/>
              </a:ext>
            </a:extLst>
          </p:cNvPr>
          <p:cNvSpPr txBox="1"/>
          <p:nvPr/>
        </p:nvSpPr>
        <p:spPr>
          <a:xfrm>
            <a:off x="1447800" y="1420266"/>
            <a:ext cx="90726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Allocate 300KiB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Note: </a:t>
            </a:r>
            <a:r>
              <a:rPr lang="en-US" b="1" dirty="0"/>
              <a:t>we can’t allocate more than 256 now even though 320 is free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BAFA7-3E49-5627-F450-5EEA13914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22600"/>
            <a:ext cx="77724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082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F220-ECF8-49BA-190F-ADA9EE51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796B-EFE6-0DD6-0FA8-60F10A81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Buddy System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08713-B830-4798-51B1-293E014BD019}"/>
              </a:ext>
            </a:extLst>
          </p:cNvPr>
          <p:cNvSpPr txBox="1"/>
          <p:nvPr/>
        </p:nvSpPr>
        <p:spPr>
          <a:xfrm>
            <a:off x="1447800" y="1420266"/>
            <a:ext cx="7045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Deallocate 50KiB (merging free portions of memory)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39B7B-02A6-06D9-39E5-F990CCD5C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22600"/>
            <a:ext cx="77724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257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D4FE0-6A85-C051-81AB-737866B0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6A0D-1D66-33A5-EE69-F27FD883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Buddy System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DE8E83-C8CD-95E6-995A-224531EC9627}"/>
              </a:ext>
            </a:extLst>
          </p:cNvPr>
          <p:cNvSpPr txBox="1"/>
          <p:nvPr/>
        </p:nvSpPr>
        <p:spPr>
          <a:xfrm>
            <a:off x="1447800" y="1420266"/>
            <a:ext cx="2469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Allocate 200KiB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9EF9ED-EC1A-80D9-680D-BB602E988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22600"/>
            <a:ext cx="77724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78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AE983-8CBB-C40A-A278-896D8C2F1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1D84-02FE-F08C-7E49-0B88EAAC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Buddy System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39609C-043C-76B8-EBA8-8D4B9F5ACF46}"/>
              </a:ext>
            </a:extLst>
          </p:cNvPr>
          <p:cNvSpPr txBox="1"/>
          <p:nvPr/>
        </p:nvSpPr>
        <p:spPr>
          <a:xfrm>
            <a:off x="1447800" y="1420266"/>
            <a:ext cx="4375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Deallocate 100KiB (and merge)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DA6D1-3196-23E8-C705-4AD7068DB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22600"/>
            <a:ext cx="77724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10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Memory virtualization</a:t>
            </a:r>
          </a:p>
          <a:p>
            <a:pPr lvl="1"/>
            <a:r>
              <a:rPr lang="en-US" dirty="0"/>
              <a:t>a process operates within a logical address space, large part of it held on hard disk, only small part is mapped onto actual physical memory</a:t>
            </a:r>
          </a:p>
          <a:p>
            <a:pPr lvl="1"/>
            <a:r>
              <a:rPr lang="en-US" dirty="0"/>
              <a:t>Replacement algorithms for loading those parts of a process that are currently needed</a:t>
            </a:r>
          </a:p>
          <a:p>
            <a:r>
              <a:rPr lang="en-US" dirty="0"/>
              <a:t>Responsibilities</a:t>
            </a:r>
          </a:p>
          <a:p>
            <a:pPr lvl="1"/>
            <a:r>
              <a:rPr lang="en-US" dirty="0"/>
              <a:t>Allocate and de-allocate physical memory</a:t>
            </a:r>
          </a:p>
          <a:p>
            <a:pPr lvl="1"/>
            <a:r>
              <a:rPr lang="en-US" dirty="0"/>
              <a:t>Efficient utilization of a limited memory resource</a:t>
            </a:r>
          </a:p>
          <a:p>
            <a:pPr lvl="1"/>
            <a:r>
              <a:rPr lang="en-US" dirty="0"/>
              <a:t>Keep track of which parts of physical memory are currently allocated to which process</a:t>
            </a:r>
          </a:p>
        </p:txBody>
      </p:sp>
    </p:spTree>
    <p:extLst>
      <p:ext uri="{BB962C8B-B14F-4D97-AF65-F5344CB8AC3E}">
        <p14:creationId xmlns:p14="http://schemas.microsoft.com/office/powerpoint/2010/main" val="17067398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536763" y="1587661"/>
            <a:ext cx="2674037" cy="50920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59047" y="3528006"/>
            <a:ext cx="2092243" cy="1350111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Can 8"/>
          <p:cNvSpPr/>
          <p:nvPr/>
        </p:nvSpPr>
        <p:spPr>
          <a:xfrm>
            <a:off x="1981201" y="1746618"/>
            <a:ext cx="2927319" cy="4824652"/>
          </a:xfrm>
          <a:prstGeom prst="can">
            <a:avLst/>
          </a:prstGeom>
          <a:ln>
            <a:solidFill>
              <a:srgbClr val="C3D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Virtualization</a:t>
            </a:r>
            <a:br>
              <a:rPr lang="en-US" dirty="0"/>
            </a:br>
            <a:r>
              <a:rPr lang="en-US" sz="3600" dirty="0"/>
              <a:t>Memory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0015" y="1839560"/>
            <a:ext cx="2465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dirty="0">
                <a:solidFill>
                  <a:prstClr val="black"/>
                </a:solidFill>
                <a:latin typeface="Calibri"/>
              </a:rPr>
              <a:t>Persistent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4527" y="1595775"/>
            <a:ext cx="18636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3200" dirty="0">
                <a:solidFill>
                  <a:prstClr val="white"/>
                </a:solidFill>
                <a:latin typeface="Calibri"/>
              </a:rPr>
              <a:t>Computer</a:t>
            </a:r>
          </a:p>
          <a:p>
            <a:pPr algn="ctr" defTabSz="914400"/>
            <a:r>
              <a:rPr lang="en-US" sz="3200" dirty="0">
                <a:solidFill>
                  <a:prstClr val="white"/>
                </a:solidFill>
                <a:latin typeface="Calibri"/>
              </a:rPr>
              <a:t>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7908" y="3020090"/>
            <a:ext cx="1789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Physical Memory</a:t>
            </a:r>
          </a:p>
        </p:txBody>
      </p:sp>
      <p:sp>
        <p:nvSpPr>
          <p:cNvPr id="3" name="Snip Single Corner Rectangle 2"/>
          <p:cNvSpPr/>
          <p:nvPr/>
        </p:nvSpPr>
        <p:spPr>
          <a:xfrm>
            <a:off x="7759047" y="3528005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Snip Single Corner Rectangle 22"/>
          <p:cNvSpPr/>
          <p:nvPr/>
        </p:nvSpPr>
        <p:spPr>
          <a:xfrm>
            <a:off x="8057492" y="3528005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Snip Single Corner Rectangle 23"/>
          <p:cNvSpPr/>
          <p:nvPr/>
        </p:nvSpPr>
        <p:spPr>
          <a:xfrm>
            <a:off x="8357501" y="3528005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Snip Single Corner Rectangle 24"/>
          <p:cNvSpPr/>
          <p:nvPr/>
        </p:nvSpPr>
        <p:spPr>
          <a:xfrm>
            <a:off x="8655946" y="3528005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Snip Single Corner Rectangle 26"/>
          <p:cNvSpPr/>
          <p:nvPr/>
        </p:nvSpPr>
        <p:spPr>
          <a:xfrm>
            <a:off x="8954391" y="3528005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Snip Single Corner Rectangle 27"/>
          <p:cNvSpPr/>
          <p:nvPr/>
        </p:nvSpPr>
        <p:spPr>
          <a:xfrm>
            <a:off x="9252836" y="3528005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Snip Single Corner Rectangle 28"/>
          <p:cNvSpPr/>
          <p:nvPr/>
        </p:nvSpPr>
        <p:spPr>
          <a:xfrm>
            <a:off x="9552845" y="3528005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Snip Single Corner Rectangle 30"/>
          <p:cNvSpPr/>
          <p:nvPr/>
        </p:nvSpPr>
        <p:spPr>
          <a:xfrm>
            <a:off x="7762224" y="3794163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Snip Single Corner Rectangle 31"/>
          <p:cNvSpPr/>
          <p:nvPr/>
        </p:nvSpPr>
        <p:spPr>
          <a:xfrm>
            <a:off x="8060669" y="3794163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Snip Single Corner Rectangle 32"/>
          <p:cNvSpPr/>
          <p:nvPr/>
        </p:nvSpPr>
        <p:spPr>
          <a:xfrm>
            <a:off x="8360678" y="3794163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Snip Single Corner Rectangle 33"/>
          <p:cNvSpPr/>
          <p:nvPr/>
        </p:nvSpPr>
        <p:spPr>
          <a:xfrm>
            <a:off x="8659123" y="3794163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Snip Single Corner Rectangle 34"/>
          <p:cNvSpPr/>
          <p:nvPr/>
        </p:nvSpPr>
        <p:spPr>
          <a:xfrm>
            <a:off x="8957568" y="3794163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Snip Single Corner Rectangle 35"/>
          <p:cNvSpPr/>
          <p:nvPr/>
        </p:nvSpPr>
        <p:spPr>
          <a:xfrm>
            <a:off x="9256013" y="3794163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Snip Single Corner Rectangle 36"/>
          <p:cNvSpPr/>
          <p:nvPr/>
        </p:nvSpPr>
        <p:spPr>
          <a:xfrm>
            <a:off x="9556022" y="3794163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Snip Single Corner Rectangle 37"/>
          <p:cNvSpPr/>
          <p:nvPr/>
        </p:nvSpPr>
        <p:spPr>
          <a:xfrm>
            <a:off x="7767534" y="4079642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9" name="Snip Single Corner Rectangle 38"/>
          <p:cNvSpPr/>
          <p:nvPr/>
        </p:nvSpPr>
        <p:spPr>
          <a:xfrm>
            <a:off x="8065979" y="4079642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Snip Single Corner Rectangle 39"/>
          <p:cNvSpPr/>
          <p:nvPr/>
        </p:nvSpPr>
        <p:spPr>
          <a:xfrm>
            <a:off x="8365988" y="4079642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Snip Single Corner Rectangle 40"/>
          <p:cNvSpPr/>
          <p:nvPr/>
        </p:nvSpPr>
        <p:spPr>
          <a:xfrm>
            <a:off x="8664433" y="4079642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Snip Single Corner Rectangle 41"/>
          <p:cNvSpPr/>
          <p:nvPr/>
        </p:nvSpPr>
        <p:spPr>
          <a:xfrm>
            <a:off x="8962878" y="4079642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" name="Snip Single Corner Rectangle 42"/>
          <p:cNvSpPr/>
          <p:nvPr/>
        </p:nvSpPr>
        <p:spPr>
          <a:xfrm>
            <a:off x="9261323" y="4079642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Snip Single Corner Rectangle 43"/>
          <p:cNvSpPr/>
          <p:nvPr/>
        </p:nvSpPr>
        <p:spPr>
          <a:xfrm>
            <a:off x="9561332" y="4079642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5" name="Snip Single Corner Rectangle 44"/>
          <p:cNvSpPr/>
          <p:nvPr/>
        </p:nvSpPr>
        <p:spPr>
          <a:xfrm>
            <a:off x="7770711" y="4345800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Snip Single Corner Rectangle 45"/>
          <p:cNvSpPr/>
          <p:nvPr/>
        </p:nvSpPr>
        <p:spPr>
          <a:xfrm>
            <a:off x="8069156" y="4345800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" name="Snip Single Corner Rectangle 46"/>
          <p:cNvSpPr/>
          <p:nvPr/>
        </p:nvSpPr>
        <p:spPr>
          <a:xfrm>
            <a:off x="8369165" y="4345800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" name="Snip Single Corner Rectangle 47"/>
          <p:cNvSpPr/>
          <p:nvPr/>
        </p:nvSpPr>
        <p:spPr>
          <a:xfrm>
            <a:off x="8667610" y="4345800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Snip Single Corner Rectangle 48"/>
          <p:cNvSpPr/>
          <p:nvPr/>
        </p:nvSpPr>
        <p:spPr>
          <a:xfrm>
            <a:off x="8966055" y="4345800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0" name="Snip Single Corner Rectangle 49"/>
          <p:cNvSpPr/>
          <p:nvPr/>
        </p:nvSpPr>
        <p:spPr>
          <a:xfrm>
            <a:off x="9264500" y="4345800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Snip Single Corner Rectangle 50"/>
          <p:cNvSpPr/>
          <p:nvPr/>
        </p:nvSpPr>
        <p:spPr>
          <a:xfrm>
            <a:off x="9564509" y="4345800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2" name="Snip Single Corner Rectangle 51"/>
          <p:cNvSpPr/>
          <p:nvPr/>
        </p:nvSpPr>
        <p:spPr>
          <a:xfrm>
            <a:off x="7759047" y="4611958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Snip Single Corner Rectangle 52"/>
          <p:cNvSpPr/>
          <p:nvPr/>
        </p:nvSpPr>
        <p:spPr>
          <a:xfrm>
            <a:off x="8057492" y="4611958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4" name="Snip Single Corner Rectangle 53"/>
          <p:cNvSpPr/>
          <p:nvPr/>
        </p:nvSpPr>
        <p:spPr>
          <a:xfrm>
            <a:off x="8357501" y="4611958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Snip Single Corner Rectangle 54"/>
          <p:cNvSpPr/>
          <p:nvPr/>
        </p:nvSpPr>
        <p:spPr>
          <a:xfrm>
            <a:off x="8655946" y="4611958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Snip Single Corner Rectangle 55"/>
          <p:cNvSpPr/>
          <p:nvPr/>
        </p:nvSpPr>
        <p:spPr>
          <a:xfrm>
            <a:off x="8954391" y="4611958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Snip Single Corner Rectangle 56"/>
          <p:cNvSpPr/>
          <p:nvPr/>
        </p:nvSpPr>
        <p:spPr>
          <a:xfrm>
            <a:off x="9252836" y="4611958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8" name="Snip Single Corner Rectangle 57"/>
          <p:cNvSpPr/>
          <p:nvPr/>
        </p:nvSpPr>
        <p:spPr>
          <a:xfrm>
            <a:off x="9552845" y="4611958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395916" y="2776920"/>
            <a:ext cx="2092243" cy="13501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1" name="Snip Single Corner Rectangle 60"/>
          <p:cNvSpPr/>
          <p:nvPr/>
        </p:nvSpPr>
        <p:spPr>
          <a:xfrm>
            <a:off x="2694361" y="2776919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2" name="Snip Single Corner Rectangle 61"/>
          <p:cNvSpPr/>
          <p:nvPr/>
        </p:nvSpPr>
        <p:spPr>
          <a:xfrm>
            <a:off x="2994370" y="2776919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Snip Single Corner Rectangle 62"/>
          <p:cNvSpPr/>
          <p:nvPr/>
        </p:nvSpPr>
        <p:spPr>
          <a:xfrm>
            <a:off x="3292815" y="2776919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4" name="Snip Single Corner Rectangle 63"/>
          <p:cNvSpPr/>
          <p:nvPr/>
        </p:nvSpPr>
        <p:spPr>
          <a:xfrm>
            <a:off x="3591260" y="2776919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5" name="Snip Single Corner Rectangle 64"/>
          <p:cNvSpPr/>
          <p:nvPr/>
        </p:nvSpPr>
        <p:spPr>
          <a:xfrm>
            <a:off x="3889705" y="2776919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6" name="Snip Single Corner Rectangle 65"/>
          <p:cNvSpPr/>
          <p:nvPr/>
        </p:nvSpPr>
        <p:spPr>
          <a:xfrm>
            <a:off x="4189714" y="2776919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7" name="Snip Single Corner Rectangle 66"/>
          <p:cNvSpPr/>
          <p:nvPr/>
        </p:nvSpPr>
        <p:spPr>
          <a:xfrm>
            <a:off x="2399093" y="3043077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Snip Single Corner Rectangle 67"/>
          <p:cNvSpPr/>
          <p:nvPr/>
        </p:nvSpPr>
        <p:spPr>
          <a:xfrm>
            <a:off x="2697538" y="3043077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Snip Single Corner Rectangle 68"/>
          <p:cNvSpPr/>
          <p:nvPr/>
        </p:nvSpPr>
        <p:spPr>
          <a:xfrm>
            <a:off x="2997547" y="3043077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Snip Single Corner Rectangle 69"/>
          <p:cNvSpPr/>
          <p:nvPr/>
        </p:nvSpPr>
        <p:spPr>
          <a:xfrm>
            <a:off x="3295992" y="3043077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1" name="Snip Single Corner Rectangle 70"/>
          <p:cNvSpPr/>
          <p:nvPr/>
        </p:nvSpPr>
        <p:spPr>
          <a:xfrm>
            <a:off x="3594437" y="3043077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2" name="Snip Single Corner Rectangle 71"/>
          <p:cNvSpPr/>
          <p:nvPr/>
        </p:nvSpPr>
        <p:spPr>
          <a:xfrm>
            <a:off x="3892882" y="3043077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Snip Single Corner Rectangle 72"/>
          <p:cNvSpPr/>
          <p:nvPr/>
        </p:nvSpPr>
        <p:spPr>
          <a:xfrm>
            <a:off x="4192891" y="3043077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4" name="Snip Single Corner Rectangle 73"/>
          <p:cNvSpPr/>
          <p:nvPr/>
        </p:nvSpPr>
        <p:spPr>
          <a:xfrm>
            <a:off x="2404403" y="332855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5" name="Snip Single Corner Rectangle 74"/>
          <p:cNvSpPr/>
          <p:nvPr/>
        </p:nvSpPr>
        <p:spPr>
          <a:xfrm>
            <a:off x="2702848" y="332855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6" name="Snip Single Corner Rectangle 75"/>
          <p:cNvSpPr/>
          <p:nvPr/>
        </p:nvSpPr>
        <p:spPr>
          <a:xfrm>
            <a:off x="3002857" y="332855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7" name="Snip Single Corner Rectangle 76"/>
          <p:cNvSpPr/>
          <p:nvPr/>
        </p:nvSpPr>
        <p:spPr>
          <a:xfrm>
            <a:off x="3301302" y="332855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8" name="Snip Single Corner Rectangle 77"/>
          <p:cNvSpPr/>
          <p:nvPr/>
        </p:nvSpPr>
        <p:spPr>
          <a:xfrm>
            <a:off x="3599747" y="332855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9" name="Snip Single Corner Rectangle 78"/>
          <p:cNvSpPr/>
          <p:nvPr/>
        </p:nvSpPr>
        <p:spPr>
          <a:xfrm>
            <a:off x="3898192" y="332855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0" name="Snip Single Corner Rectangle 79"/>
          <p:cNvSpPr/>
          <p:nvPr/>
        </p:nvSpPr>
        <p:spPr>
          <a:xfrm>
            <a:off x="4198201" y="332855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1" name="Snip Single Corner Rectangle 80"/>
          <p:cNvSpPr/>
          <p:nvPr/>
        </p:nvSpPr>
        <p:spPr>
          <a:xfrm>
            <a:off x="2407580" y="3594714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2" name="Snip Single Corner Rectangle 81"/>
          <p:cNvSpPr/>
          <p:nvPr/>
        </p:nvSpPr>
        <p:spPr>
          <a:xfrm>
            <a:off x="2706025" y="3594714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5" name="Snip Single Corner Rectangle 84"/>
          <p:cNvSpPr/>
          <p:nvPr/>
        </p:nvSpPr>
        <p:spPr>
          <a:xfrm>
            <a:off x="3602924" y="3594714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6" name="Snip Single Corner Rectangle 85"/>
          <p:cNvSpPr/>
          <p:nvPr/>
        </p:nvSpPr>
        <p:spPr>
          <a:xfrm>
            <a:off x="3901369" y="3594714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7" name="Snip Single Corner Rectangle 86"/>
          <p:cNvSpPr/>
          <p:nvPr/>
        </p:nvSpPr>
        <p:spPr>
          <a:xfrm>
            <a:off x="4201378" y="3594714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Snip Single Corner Rectangle 87"/>
          <p:cNvSpPr/>
          <p:nvPr/>
        </p:nvSpPr>
        <p:spPr>
          <a:xfrm>
            <a:off x="2395916" y="3860872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9" name="Snip Single Corner Rectangle 88"/>
          <p:cNvSpPr/>
          <p:nvPr/>
        </p:nvSpPr>
        <p:spPr>
          <a:xfrm>
            <a:off x="2694361" y="3860872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0" name="Snip Single Corner Rectangle 89"/>
          <p:cNvSpPr/>
          <p:nvPr/>
        </p:nvSpPr>
        <p:spPr>
          <a:xfrm>
            <a:off x="2994370" y="3860872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Snip Single Corner Rectangle 90"/>
          <p:cNvSpPr/>
          <p:nvPr/>
        </p:nvSpPr>
        <p:spPr>
          <a:xfrm>
            <a:off x="3292815" y="3860872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2" name="Snip Single Corner Rectangle 91"/>
          <p:cNvSpPr/>
          <p:nvPr/>
        </p:nvSpPr>
        <p:spPr>
          <a:xfrm>
            <a:off x="3591260" y="3860872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3" name="Snip Single Corner Rectangle 92"/>
          <p:cNvSpPr/>
          <p:nvPr/>
        </p:nvSpPr>
        <p:spPr>
          <a:xfrm>
            <a:off x="3889705" y="3860872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4" name="Snip Single Corner Rectangle 93"/>
          <p:cNvSpPr/>
          <p:nvPr/>
        </p:nvSpPr>
        <p:spPr>
          <a:xfrm>
            <a:off x="4189714" y="3860872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2387094" y="4093544"/>
            <a:ext cx="2092243" cy="13501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6" name="Snip Single Corner Rectangle 95"/>
          <p:cNvSpPr/>
          <p:nvPr/>
        </p:nvSpPr>
        <p:spPr>
          <a:xfrm>
            <a:off x="2387094" y="4093543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7" name="Snip Single Corner Rectangle 96"/>
          <p:cNvSpPr/>
          <p:nvPr/>
        </p:nvSpPr>
        <p:spPr>
          <a:xfrm>
            <a:off x="2685539" y="4093543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8" name="Snip Single Corner Rectangle 97"/>
          <p:cNvSpPr/>
          <p:nvPr/>
        </p:nvSpPr>
        <p:spPr>
          <a:xfrm>
            <a:off x="2985548" y="4093543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" name="Snip Single Corner Rectangle 98"/>
          <p:cNvSpPr/>
          <p:nvPr/>
        </p:nvSpPr>
        <p:spPr>
          <a:xfrm>
            <a:off x="3283993" y="4093543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1" name="Snip Single Corner Rectangle 100"/>
          <p:cNvSpPr/>
          <p:nvPr/>
        </p:nvSpPr>
        <p:spPr>
          <a:xfrm>
            <a:off x="3880883" y="4093543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" name="Snip Single Corner Rectangle 101"/>
          <p:cNvSpPr/>
          <p:nvPr/>
        </p:nvSpPr>
        <p:spPr>
          <a:xfrm>
            <a:off x="4180892" y="4093543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Snip Single Corner Rectangle 102"/>
          <p:cNvSpPr/>
          <p:nvPr/>
        </p:nvSpPr>
        <p:spPr>
          <a:xfrm>
            <a:off x="2390271" y="4359701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4" name="Snip Single Corner Rectangle 103"/>
          <p:cNvSpPr/>
          <p:nvPr/>
        </p:nvSpPr>
        <p:spPr>
          <a:xfrm>
            <a:off x="2688716" y="4359701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5" name="Snip Single Corner Rectangle 104"/>
          <p:cNvSpPr/>
          <p:nvPr/>
        </p:nvSpPr>
        <p:spPr>
          <a:xfrm>
            <a:off x="2988725" y="4359701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6" name="Snip Single Corner Rectangle 105"/>
          <p:cNvSpPr/>
          <p:nvPr/>
        </p:nvSpPr>
        <p:spPr>
          <a:xfrm>
            <a:off x="3287170" y="4359701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7" name="Snip Single Corner Rectangle 106"/>
          <p:cNvSpPr/>
          <p:nvPr/>
        </p:nvSpPr>
        <p:spPr>
          <a:xfrm>
            <a:off x="3585615" y="4359701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8" name="Snip Single Corner Rectangle 107"/>
          <p:cNvSpPr/>
          <p:nvPr/>
        </p:nvSpPr>
        <p:spPr>
          <a:xfrm>
            <a:off x="3884060" y="4359701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Snip Single Corner Rectangle 110"/>
          <p:cNvSpPr/>
          <p:nvPr/>
        </p:nvSpPr>
        <p:spPr>
          <a:xfrm>
            <a:off x="2694026" y="4645180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2" name="Snip Single Corner Rectangle 111"/>
          <p:cNvSpPr/>
          <p:nvPr/>
        </p:nvSpPr>
        <p:spPr>
          <a:xfrm>
            <a:off x="2994035" y="4645180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3" name="Snip Single Corner Rectangle 112"/>
          <p:cNvSpPr/>
          <p:nvPr/>
        </p:nvSpPr>
        <p:spPr>
          <a:xfrm>
            <a:off x="3292480" y="4645180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4" name="Snip Single Corner Rectangle 113"/>
          <p:cNvSpPr/>
          <p:nvPr/>
        </p:nvSpPr>
        <p:spPr>
          <a:xfrm>
            <a:off x="3590925" y="4645180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Snip Single Corner Rectangle 114"/>
          <p:cNvSpPr/>
          <p:nvPr/>
        </p:nvSpPr>
        <p:spPr>
          <a:xfrm>
            <a:off x="3889370" y="4645180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6" name="Snip Single Corner Rectangle 115"/>
          <p:cNvSpPr/>
          <p:nvPr/>
        </p:nvSpPr>
        <p:spPr>
          <a:xfrm>
            <a:off x="4189379" y="4645180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7" name="Snip Single Corner Rectangle 116"/>
          <p:cNvSpPr/>
          <p:nvPr/>
        </p:nvSpPr>
        <p:spPr>
          <a:xfrm>
            <a:off x="2398758" y="4911338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8" name="Snip Single Corner Rectangle 117"/>
          <p:cNvSpPr/>
          <p:nvPr/>
        </p:nvSpPr>
        <p:spPr>
          <a:xfrm>
            <a:off x="2697203" y="4911338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0" name="Snip Single Corner Rectangle 119"/>
          <p:cNvSpPr/>
          <p:nvPr/>
        </p:nvSpPr>
        <p:spPr>
          <a:xfrm>
            <a:off x="3295657" y="4911338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Snip Single Corner Rectangle 120"/>
          <p:cNvSpPr/>
          <p:nvPr/>
        </p:nvSpPr>
        <p:spPr>
          <a:xfrm>
            <a:off x="3594102" y="4911338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2" name="Snip Single Corner Rectangle 121"/>
          <p:cNvSpPr/>
          <p:nvPr/>
        </p:nvSpPr>
        <p:spPr>
          <a:xfrm>
            <a:off x="3892547" y="4911338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4" name="Snip Single Corner Rectangle 123"/>
          <p:cNvSpPr/>
          <p:nvPr/>
        </p:nvSpPr>
        <p:spPr>
          <a:xfrm>
            <a:off x="2387094" y="517749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5" name="Snip Single Corner Rectangle 124"/>
          <p:cNvSpPr/>
          <p:nvPr/>
        </p:nvSpPr>
        <p:spPr>
          <a:xfrm>
            <a:off x="2685539" y="517749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6" name="Snip Single Corner Rectangle 125"/>
          <p:cNvSpPr/>
          <p:nvPr/>
        </p:nvSpPr>
        <p:spPr>
          <a:xfrm>
            <a:off x="2985548" y="517749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7" name="Snip Single Corner Rectangle 126"/>
          <p:cNvSpPr/>
          <p:nvPr/>
        </p:nvSpPr>
        <p:spPr>
          <a:xfrm>
            <a:off x="3283993" y="517749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8" name="Snip Single Corner Rectangle 127"/>
          <p:cNvSpPr/>
          <p:nvPr/>
        </p:nvSpPr>
        <p:spPr>
          <a:xfrm>
            <a:off x="3582438" y="517749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9" name="Snip Single Corner Rectangle 128"/>
          <p:cNvSpPr/>
          <p:nvPr/>
        </p:nvSpPr>
        <p:spPr>
          <a:xfrm>
            <a:off x="3880883" y="517749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0" name="Snip Single Corner Rectangle 129"/>
          <p:cNvSpPr/>
          <p:nvPr/>
        </p:nvSpPr>
        <p:spPr>
          <a:xfrm>
            <a:off x="4180892" y="5177496"/>
            <a:ext cx="298445" cy="266158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1" name="Snip Single Corner Rectangle 130"/>
          <p:cNvSpPr/>
          <p:nvPr/>
        </p:nvSpPr>
        <p:spPr>
          <a:xfrm>
            <a:off x="2387094" y="2776919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2" name="Snip Single Corner Rectangle 131"/>
          <p:cNvSpPr/>
          <p:nvPr/>
        </p:nvSpPr>
        <p:spPr>
          <a:xfrm>
            <a:off x="2997547" y="3594714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3" name="Snip Single Corner Rectangle 132"/>
          <p:cNvSpPr/>
          <p:nvPr/>
        </p:nvSpPr>
        <p:spPr>
          <a:xfrm>
            <a:off x="3283993" y="3594714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4" name="Snip Single Corner Rectangle 133"/>
          <p:cNvSpPr/>
          <p:nvPr/>
        </p:nvSpPr>
        <p:spPr>
          <a:xfrm>
            <a:off x="2391385" y="4655228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5" name="Snip Single Corner Rectangle 134"/>
          <p:cNvSpPr/>
          <p:nvPr/>
        </p:nvSpPr>
        <p:spPr>
          <a:xfrm>
            <a:off x="2992410" y="4911338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6" name="Snip Single Corner Rectangle 135"/>
          <p:cNvSpPr/>
          <p:nvPr/>
        </p:nvSpPr>
        <p:spPr>
          <a:xfrm>
            <a:off x="3594474" y="4093346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7" name="Snip Single Corner Rectangle 136"/>
          <p:cNvSpPr/>
          <p:nvPr/>
        </p:nvSpPr>
        <p:spPr>
          <a:xfrm>
            <a:off x="4187815" y="4375821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8" name="Snip Single Corner Rectangle 137"/>
          <p:cNvSpPr/>
          <p:nvPr/>
        </p:nvSpPr>
        <p:spPr>
          <a:xfrm>
            <a:off x="4201378" y="4908015"/>
            <a:ext cx="298445" cy="266158"/>
          </a:xfrm>
          <a:prstGeom prst="snip1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8165" y="5595719"/>
            <a:ext cx="169609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3200" b="1" dirty="0">
                <a:solidFill>
                  <a:prstClr val="white"/>
                </a:solidFill>
                <a:latin typeface="Calibri"/>
              </a:rPr>
              <a:t>Page File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12618" y="3020090"/>
            <a:ext cx="216071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dirty="0">
                <a:solidFill>
                  <a:prstClr val="black"/>
                </a:solidFill>
                <a:latin typeface="Calibri"/>
              </a:rPr>
              <a:t>Virtual Memory</a:t>
            </a:r>
            <a:endParaRPr lang="en-US" sz="1800" dirty="0">
              <a:solidFill>
                <a:prstClr val="black"/>
              </a:solidFill>
              <a:latin typeface="Calibri"/>
            </a:endParaRPr>
          </a:p>
          <a:p>
            <a:pPr algn="ctr"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Paging</a:t>
            </a:r>
          </a:p>
          <a:p>
            <a:pPr algn="ctr" defTabSz="914400"/>
            <a:r>
              <a:rPr lang="en-US" sz="1800" dirty="0">
                <a:solidFill>
                  <a:prstClr val="black"/>
                </a:solidFill>
                <a:latin typeface="Calibri"/>
              </a:rPr>
              <a:t>Segmentation</a:t>
            </a:r>
          </a:p>
          <a:p>
            <a:pPr defTabSz="914400"/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60015" y="2664508"/>
            <a:ext cx="7780895" cy="292681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Left-Right Arrow 5"/>
          <p:cNvSpPr/>
          <p:nvPr/>
        </p:nvSpPr>
        <p:spPr>
          <a:xfrm>
            <a:off x="5112619" y="4127031"/>
            <a:ext cx="2278451" cy="248791"/>
          </a:xfrm>
          <a:prstGeom prst="left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55937" y="498950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800" dirty="0">
                <a:solidFill>
                  <a:srgbClr val="FFFFFF"/>
                </a:solidFill>
                <a:latin typeface="Calibri"/>
              </a:rPr>
              <a:t>Frames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93071" y="4375822"/>
            <a:ext cx="1021561" cy="3912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800" dirty="0">
                <a:solidFill>
                  <a:prstClr val="white"/>
                </a:solidFill>
                <a:latin typeface="Calibri"/>
              </a:rPr>
              <a:t>File I/O</a:t>
            </a:r>
          </a:p>
        </p:txBody>
      </p:sp>
    </p:spTree>
    <p:extLst>
      <p:ext uri="{BB962C8B-B14F-4D97-AF65-F5344CB8AC3E}">
        <p14:creationId xmlns:p14="http://schemas.microsoft.com/office/powerpoint/2010/main" val="1720259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Virtual 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6779096" cy="4925144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Non-contiguous allocation of memory for processes</a:t>
            </a:r>
          </a:p>
          <a:p>
            <a:pPr lvl="1"/>
            <a:r>
              <a:rPr lang="en-GB" dirty="0"/>
              <a:t>The address space of a process is broken up into pieces or </a:t>
            </a:r>
            <a:r>
              <a:rPr lang="en-GB" b="1" dirty="0"/>
              <a:t>pages</a:t>
            </a:r>
            <a:r>
              <a:rPr lang="en-GB" dirty="0"/>
              <a:t> that don’t need to occupy a contiguous area of main memory</a:t>
            </a:r>
          </a:p>
          <a:p>
            <a:r>
              <a:rPr lang="en-GB" dirty="0"/>
              <a:t>Processes only partially loaded into physical memory</a:t>
            </a:r>
          </a:p>
          <a:p>
            <a:pPr lvl="1"/>
            <a:r>
              <a:rPr lang="en-GB" dirty="0"/>
              <a:t>Not all pages of a process image must be in physical memory at the same time</a:t>
            </a:r>
          </a:p>
          <a:p>
            <a:pPr lvl="1"/>
            <a:r>
              <a:rPr lang="en-GB" dirty="0"/>
              <a:t>Process is only allowed to load a limited set of pages – “working set”</a:t>
            </a:r>
          </a:p>
          <a:p>
            <a:r>
              <a:rPr lang="en-GB" dirty="0"/>
              <a:t>All memory references are logical addresses that are dynamically translated into physical addresses at run time</a:t>
            </a:r>
          </a:p>
          <a:p>
            <a:pPr lvl="1"/>
            <a:r>
              <a:rPr lang="en-GB" dirty="0"/>
              <a:t>Mapping of address space onto physical memory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8890144" y="1484785"/>
            <a:ext cx="1152128" cy="42640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99479" y="4946700"/>
            <a:ext cx="933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Address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Space</a:t>
            </a:r>
          </a:p>
        </p:txBody>
      </p:sp>
      <p:sp>
        <p:nvSpPr>
          <p:cNvPr id="8" name="Folded Corner 7"/>
          <p:cNvSpPr/>
          <p:nvPr/>
        </p:nvSpPr>
        <p:spPr>
          <a:xfrm>
            <a:off x="8972229" y="2377015"/>
            <a:ext cx="987958" cy="110000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9975" y="3025087"/>
            <a:ext cx="99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05604" y="2631705"/>
            <a:ext cx="1026066" cy="16748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Instruction</a:t>
            </a:r>
          </a:p>
        </p:txBody>
      </p:sp>
      <p:sp>
        <p:nvSpPr>
          <p:cNvPr id="11" name="Folded Corner 10"/>
          <p:cNvSpPr/>
          <p:nvPr/>
        </p:nvSpPr>
        <p:spPr>
          <a:xfrm>
            <a:off x="8972229" y="3496469"/>
            <a:ext cx="987958" cy="735783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28736" y="3780322"/>
            <a:ext cx="625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</a:t>
            </a:r>
          </a:p>
        </p:txBody>
      </p:sp>
      <p:sp>
        <p:nvSpPr>
          <p:cNvPr id="13" name="Folded Corner 12"/>
          <p:cNvSpPr/>
          <p:nvPr/>
        </p:nvSpPr>
        <p:spPr>
          <a:xfrm>
            <a:off x="8972230" y="4254076"/>
            <a:ext cx="996135" cy="36933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28736" y="425407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  <p:sp>
        <p:nvSpPr>
          <p:cNvPr id="15" name="Folded Corner 14"/>
          <p:cNvSpPr/>
          <p:nvPr/>
        </p:nvSpPr>
        <p:spPr>
          <a:xfrm>
            <a:off x="8972229" y="1579956"/>
            <a:ext cx="987958" cy="376429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9975" y="1587052"/>
            <a:ext cx="998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Kernel</a:t>
            </a:r>
          </a:p>
        </p:txBody>
      </p:sp>
      <p:sp>
        <p:nvSpPr>
          <p:cNvPr id="20" name="Right Brace 19"/>
          <p:cNvSpPr/>
          <p:nvPr/>
        </p:nvSpPr>
        <p:spPr>
          <a:xfrm>
            <a:off x="10084598" y="2377015"/>
            <a:ext cx="271513" cy="22463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67449" y="2564501"/>
            <a:ext cx="271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5102210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Organise both virtual address space of process image and physical memory into fixed-sized blocks:</a:t>
            </a:r>
          </a:p>
          <a:p>
            <a:pPr lvl="1"/>
            <a:r>
              <a:rPr lang="en-GB" b="1" i="1" dirty="0"/>
              <a:t>Pages</a:t>
            </a:r>
            <a:r>
              <a:rPr lang="en-GB" dirty="0"/>
              <a:t>: Virtual address space of a process is divided into equal fixed-sized blocks called “pages”</a:t>
            </a:r>
          </a:p>
          <a:p>
            <a:pPr lvl="1"/>
            <a:r>
              <a:rPr lang="en-GB" b="1" i="1" dirty="0"/>
              <a:t>Frames</a:t>
            </a:r>
            <a:r>
              <a:rPr lang="en-GB" dirty="0"/>
              <a:t>: Physical memory is divided into equal fixed-sized blocks, called “frames” or “page frames”</a:t>
            </a:r>
          </a:p>
          <a:p>
            <a:pPr lvl="1"/>
            <a:r>
              <a:rPr lang="en-GB" dirty="0"/>
              <a:t>Any page can be assigned to any free frame</a:t>
            </a:r>
          </a:p>
          <a:p>
            <a:r>
              <a:rPr lang="en-GB" dirty="0"/>
              <a:t>The operating system allocates a small amount of frames to a process</a:t>
            </a:r>
          </a:p>
          <a:p>
            <a:r>
              <a:rPr lang="en-GB" dirty="0"/>
              <a:t>Each process has a </a:t>
            </a:r>
            <a:r>
              <a:rPr lang="en-GB" b="1" i="1" dirty="0"/>
              <a:t>page table</a:t>
            </a:r>
          </a:p>
          <a:p>
            <a:pPr lvl="1"/>
            <a:r>
              <a:rPr lang="en-GB" dirty="0"/>
              <a:t>Maps pages to frames – records the frames where a page is loaded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7300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89269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Allocation of pages to frames in physical memory can be arbitrary and non-contiguous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7608" y="2564904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52184" y="2564904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52184" y="3429000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52184" y="4725144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67608" y="2996952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7608" y="3429000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7608" y="3861048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5880" y="3645024"/>
            <a:ext cx="720080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31904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5880" y="3933056"/>
            <a:ext cx="720080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31904" y="3861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5880" y="4221088"/>
            <a:ext cx="720080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31904" y="41490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15880" y="4509120"/>
            <a:ext cx="720080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31904" y="44371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9856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9856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9856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9856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cxnSp>
        <p:nvCxnSpPr>
          <p:cNvPr id="31" name="Straight Arrow Connector 30"/>
          <p:cNvCxnSpPr>
            <a:stCxn id="4" idx="3"/>
            <a:endCxn id="26" idx="1"/>
          </p:cNvCxnSpPr>
          <p:nvPr/>
        </p:nvCxnSpPr>
        <p:spPr>
          <a:xfrm>
            <a:off x="3431704" y="2780929"/>
            <a:ext cx="1368152" cy="10179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5" idx="3"/>
            <a:endCxn id="27" idx="1"/>
          </p:cNvCxnSpPr>
          <p:nvPr/>
        </p:nvCxnSpPr>
        <p:spPr>
          <a:xfrm>
            <a:off x="3431704" y="3212977"/>
            <a:ext cx="1368152" cy="8739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6" idx="3"/>
            <a:endCxn id="28" idx="1"/>
          </p:cNvCxnSpPr>
          <p:nvPr/>
        </p:nvCxnSpPr>
        <p:spPr>
          <a:xfrm>
            <a:off x="3431704" y="3645025"/>
            <a:ext cx="1368152" cy="7299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7" idx="3"/>
            <a:endCxn id="29" idx="1"/>
          </p:cNvCxnSpPr>
          <p:nvPr/>
        </p:nvCxnSpPr>
        <p:spPr>
          <a:xfrm>
            <a:off x="3431704" y="4077073"/>
            <a:ext cx="1368152" cy="5859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752184" y="2996952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52184" y="3861048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52184" y="4293096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52184" y="5589240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3</a:t>
            </a:r>
          </a:p>
        </p:txBody>
      </p:sp>
      <p:cxnSp>
        <p:nvCxnSpPr>
          <p:cNvPr id="50" name="Straight Arrow Connector 49"/>
          <p:cNvCxnSpPr>
            <a:stCxn id="20" idx="3"/>
            <a:endCxn id="20" idx="3"/>
          </p:cNvCxnSpPr>
          <p:nvPr/>
        </p:nvCxnSpPr>
        <p:spPr>
          <a:xfrm>
            <a:off x="5735960" y="4077072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3"/>
            <a:endCxn id="62" idx="1"/>
          </p:cNvCxnSpPr>
          <p:nvPr/>
        </p:nvCxnSpPr>
        <p:spPr>
          <a:xfrm flipV="1">
            <a:off x="5735960" y="3109610"/>
            <a:ext cx="1728192" cy="6794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0" idx="3"/>
            <a:endCxn id="65" idx="1"/>
          </p:cNvCxnSpPr>
          <p:nvPr/>
        </p:nvCxnSpPr>
        <p:spPr>
          <a:xfrm>
            <a:off x="5735960" y="4077072"/>
            <a:ext cx="1728192" cy="400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22" idx="3"/>
            <a:endCxn id="64" idx="1"/>
          </p:cNvCxnSpPr>
          <p:nvPr/>
        </p:nvCxnSpPr>
        <p:spPr>
          <a:xfrm flipV="1">
            <a:off x="5735960" y="4036422"/>
            <a:ext cx="1728192" cy="3286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4" idx="3"/>
            <a:endCxn id="70" idx="1"/>
          </p:cNvCxnSpPr>
          <p:nvPr/>
        </p:nvCxnSpPr>
        <p:spPr>
          <a:xfrm>
            <a:off x="5735960" y="4653136"/>
            <a:ext cx="1728192" cy="1120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464152" y="2564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64152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64152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64152" y="3851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64152" y="42930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64152" y="47251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6415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52184" y="5157192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464152" y="5589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3212976"/>
            <a:ext cx="1339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Table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95601" y="6093297"/>
            <a:ext cx="988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Virtual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60296" y="3645025"/>
            <a:ext cx="1763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Frames of physical memory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80177" y="6093297"/>
            <a:ext cx="988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Physical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7608" y="5589240"/>
            <a:ext cx="864096" cy="43204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15880" y="5733256"/>
            <a:ext cx="720080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799856" y="5733257"/>
            <a:ext cx="300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</a:p>
        </p:txBody>
      </p:sp>
      <p:cxnSp>
        <p:nvCxnSpPr>
          <p:cNvPr id="56" name="Straight Arrow Connector 55"/>
          <p:cNvCxnSpPr>
            <a:endCxn id="55" idx="1"/>
          </p:cNvCxnSpPr>
          <p:nvPr/>
        </p:nvCxnSpPr>
        <p:spPr>
          <a:xfrm>
            <a:off x="3431704" y="5795393"/>
            <a:ext cx="1368152" cy="917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55840" y="3284984"/>
            <a:ext cx="1296144" cy="280831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79576" y="2420888"/>
            <a:ext cx="1440160" cy="367240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2999656" y="4437112"/>
            <a:ext cx="0" cy="100811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5375920" y="4869160"/>
            <a:ext cx="0" cy="72008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9279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Paging and Virtual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Helps to implement virtual memory</a:t>
            </a:r>
          </a:p>
          <a:p>
            <a:pPr lvl="1"/>
            <a:r>
              <a:rPr lang="en-GB" dirty="0"/>
              <a:t>Page file held on hard disk, organised in blocks of the same size as a page</a:t>
            </a:r>
          </a:p>
          <a:p>
            <a:pPr lvl="1"/>
            <a:r>
              <a:rPr lang="en-GB" dirty="0"/>
              <a:t>Pages of a process can easily been swapped in and out of memory</a:t>
            </a:r>
          </a:p>
          <a:p>
            <a:pPr lvl="1"/>
            <a:r>
              <a:rPr lang="en-GB" dirty="0"/>
              <a:t>Pages are loaded on demand</a:t>
            </a:r>
          </a:p>
          <a:p>
            <a:r>
              <a:rPr lang="en-GB" dirty="0"/>
              <a:t>No time-consuming search for free best-fit  memory fragments</a:t>
            </a:r>
          </a:p>
          <a:p>
            <a:r>
              <a:rPr lang="en-GB" dirty="0"/>
              <a:t>No external memory fragmentation</a:t>
            </a:r>
          </a:p>
          <a:p>
            <a:r>
              <a:rPr lang="en-GB" dirty="0"/>
              <a:t>Paging is supported by modern hardware</a:t>
            </a:r>
          </a:p>
        </p:txBody>
      </p:sp>
    </p:spTree>
    <p:extLst>
      <p:ext uri="{BB962C8B-B14F-4D97-AF65-F5344CB8AC3E}">
        <p14:creationId xmlns:p14="http://schemas.microsoft.com/office/powerpoint/2010/main" val="1921954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5951984" y="4293096"/>
            <a:ext cx="792088" cy="2160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Table of a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7568" y="1484784"/>
            <a:ext cx="1296144" cy="46085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279576" y="1556792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79576" y="1988840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279576" y="2420888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79576" y="2852936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79576" y="3284984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79576" y="3717032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79576" y="4149080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79576" y="4581128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279576" y="5589240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855640" y="5085184"/>
            <a:ext cx="0" cy="43204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Folded Corner 16"/>
          <p:cNvSpPr/>
          <p:nvPr/>
        </p:nvSpPr>
        <p:spPr>
          <a:xfrm>
            <a:off x="2351584" y="2021515"/>
            <a:ext cx="987958" cy="110000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49330" y="2669587"/>
            <a:ext cx="99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</a:t>
            </a:r>
          </a:p>
        </p:txBody>
      </p:sp>
      <p:sp>
        <p:nvSpPr>
          <p:cNvPr id="19" name="Folded Corner 18"/>
          <p:cNvSpPr/>
          <p:nvPr/>
        </p:nvSpPr>
        <p:spPr>
          <a:xfrm>
            <a:off x="2351584" y="3140969"/>
            <a:ext cx="987958" cy="735783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08091" y="3424822"/>
            <a:ext cx="625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</a:t>
            </a:r>
          </a:p>
        </p:txBody>
      </p:sp>
      <p:sp>
        <p:nvSpPr>
          <p:cNvPr id="21" name="Folded Corner 20"/>
          <p:cNvSpPr/>
          <p:nvPr/>
        </p:nvSpPr>
        <p:spPr>
          <a:xfrm>
            <a:off x="2351585" y="5589241"/>
            <a:ext cx="996135" cy="36933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08091" y="558924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6096000" y="2564904"/>
            <a:ext cx="1368152" cy="1512168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24" name="Rectangle 23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  <a:ln w="3175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691680" y="2348879"/>
              <a:ext cx="894284" cy="1099202"/>
            </a:xfrm>
            <a:prstGeom prst="rect">
              <a:avLst/>
            </a:prstGeom>
            <a:grpFill/>
            <a:ln w="3175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951984" y="2420888"/>
            <a:ext cx="1368152" cy="1512168"/>
            <a:chOff x="1475656" y="2204864"/>
            <a:chExt cx="1368152" cy="1512168"/>
          </a:xfrm>
          <a:solidFill>
            <a:schemeClr val="bg1"/>
          </a:solidFill>
        </p:grpSpPr>
        <p:sp>
          <p:nvSpPr>
            <p:cNvPr id="27" name="Rectangle 26"/>
            <p:cNvSpPr/>
            <p:nvPr/>
          </p:nvSpPr>
          <p:spPr>
            <a:xfrm>
              <a:off x="1475656" y="2204864"/>
              <a:ext cx="1368152" cy="1512168"/>
            </a:xfrm>
            <a:prstGeom prst="rect">
              <a:avLst/>
            </a:prstGeom>
            <a:grpFill/>
            <a:ln w="3175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1680" y="2348880"/>
              <a:ext cx="894284" cy="923330"/>
            </a:xfrm>
            <a:prstGeom prst="rect">
              <a:avLst/>
            </a:prstGeom>
            <a:grpFill/>
            <a:ln w="3175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807968" y="2276872"/>
            <a:ext cx="1368152" cy="1512168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30" name="Rectangle 29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  <a:ln w="3175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91680" y="2348879"/>
              <a:ext cx="894284" cy="1099202"/>
            </a:xfrm>
            <a:prstGeom prst="rect">
              <a:avLst/>
            </a:prstGeom>
            <a:grpFill/>
            <a:ln w="3175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663952" y="2132856"/>
            <a:ext cx="1368152" cy="1440160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33" name="Rectangle 32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  <a:ln w="3175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691680" y="2348880"/>
              <a:ext cx="894284" cy="1154163"/>
            </a:xfrm>
            <a:prstGeom prst="rect">
              <a:avLst/>
            </a:prstGeom>
            <a:grpFill/>
            <a:ln w="3175" cmpd="sng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sp>
        <p:nvSpPr>
          <p:cNvPr id="35" name="Rectangle 34"/>
          <p:cNvSpPr/>
          <p:nvPr/>
        </p:nvSpPr>
        <p:spPr>
          <a:xfrm>
            <a:off x="4655840" y="1772816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11824" y="1124745"/>
            <a:ext cx="894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55840" y="1988840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655840" y="2204864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55840" y="2420888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655840" y="2636912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3" name="Shape 42"/>
          <p:cNvCxnSpPr>
            <a:stCxn id="35" idx="3"/>
            <a:endCxn id="33" idx="0"/>
          </p:cNvCxnSpPr>
          <p:nvPr/>
        </p:nvCxnSpPr>
        <p:spPr>
          <a:xfrm>
            <a:off x="5375920" y="1880828"/>
            <a:ext cx="972108" cy="25202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063553" y="6165304"/>
            <a:ext cx="1537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Address Space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76320" y="2420888"/>
            <a:ext cx="1296144" cy="3600400"/>
          </a:xfrm>
          <a:prstGeom prst="rect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048328" y="249289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048328" y="285293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048328" y="321297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048328" y="357301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048328" y="393305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048328" y="429309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048328" y="465313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048328" y="5589240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20336" y="6021288"/>
            <a:ext cx="98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9624392" y="5085184"/>
            <a:ext cx="0" cy="43204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23992" y="4365104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023992" y="4581128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023992" y="4797152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23992" y="5013176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023992" y="5229200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023992" y="5445224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023992" y="5661248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023992" y="6206681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>
            <a:off x="6240016" y="5949280"/>
            <a:ext cx="0" cy="216024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6312024" y="3573016"/>
            <a:ext cx="0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807969" y="6381328"/>
            <a:ext cx="120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Table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19536" y="162880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59496" y="5661248"/>
            <a:ext cx="63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19536" y="198884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19536" y="234888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3952" y="429309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3952" y="450912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3952" y="472514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75920" y="6156012"/>
            <a:ext cx="63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3647728" y="4437112"/>
            <a:ext cx="2016224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olded Corner 106"/>
          <p:cNvSpPr/>
          <p:nvPr/>
        </p:nvSpPr>
        <p:spPr>
          <a:xfrm>
            <a:off x="2353838" y="1621704"/>
            <a:ext cx="987958" cy="376429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351584" y="1628800"/>
            <a:ext cx="998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Kernel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048328" y="3212976"/>
            <a:ext cx="1152128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9048328" y="4293096"/>
            <a:ext cx="1152128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951985" y="4293097"/>
            <a:ext cx="778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Frame #</a:t>
            </a:r>
          </a:p>
        </p:txBody>
      </p:sp>
      <p:sp>
        <p:nvSpPr>
          <p:cNvPr id="114" name="Right Brace 113"/>
          <p:cNvSpPr/>
          <p:nvPr/>
        </p:nvSpPr>
        <p:spPr>
          <a:xfrm>
            <a:off x="6960096" y="4365104"/>
            <a:ext cx="288032" cy="2088232"/>
          </a:xfrm>
          <a:prstGeom prst="rightBrac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248128" y="4797153"/>
            <a:ext cx="1152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Frame # where page is loaded into memory</a:t>
            </a:r>
          </a:p>
        </p:txBody>
      </p:sp>
      <p:cxnSp>
        <p:nvCxnSpPr>
          <p:cNvPr id="117" name="Straight Arrow Connector 116"/>
          <p:cNvCxnSpPr>
            <a:stCxn id="115" idx="3"/>
          </p:cNvCxnSpPr>
          <p:nvPr/>
        </p:nvCxnSpPr>
        <p:spPr>
          <a:xfrm flipV="1">
            <a:off x="8400256" y="4077072"/>
            <a:ext cx="432048" cy="1381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341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Page Table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Operating system manages one page table per process</a:t>
            </a:r>
          </a:p>
          <a:p>
            <a:r>
              <a:rPr lang="en-GB" dirty="0"/>
              <a:t>A pointer to the page table is stored in the process control block</a:t>
            </a:r>
          </a:p>
          <a:p>
            <a:r>
              <a:rPr lang="en-GB" dirty="0"/>
              <a:t>Context switch (starts a new process)</a:t>
            </a:r>
          </a:p>
          <a:p>
            <a:pPr lvl="1"/>
            <a:r>
              <a:rPr lang="en-GB" dirty="0"/>
              <a:t>the stored page table of the process has to be referenced correctly</a:t>
            </a:r>
          </a:p>
          <a:p>
            <a:pPr lvl="1"/>
            <a:r>
              <a:rPr lang="en-GB" dirty="0"/>
              <a:t>We can load a “page table pointer” into one of the processor registers and use it for address translation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24154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Virtualisation of memory management</a:t>
            </a:r>
          </a:p>
          <a:p>
            <a:pPr lvl="1"/>
            <a:r>
              <a:rPr lang="en-GB" dirty="0"/>
              <a:t>Not all pages of a process must be in physical memory</a:t>
            </a:r>
          </a:p>
          <a:p>
            <a:pPr lvl="2"/>
            <a:r>
              <a:rPr lang="en-GB" dirty="0"/>
              <a:t>A large part of the process image can be held on secondary storage</a:t>
            </a:r>
          </a:p>
          <a:p>
            <a:pPr lvl="2"/>
            <a:r>
              <a:rPr lang="en-GB" dirty="0"/>
              <a:t>A page load mechanism is needed to load pages on demand</a:t>
            </a:r>
          </a:p>
          <a:p>
            <a:pPr lvl="1"/>
            <a:r>
              <a:rPr lang="en-GB" dirty="0"/>
              <a:t>Only needed pages are loaded into memory</a:t>
            </a:r>
          </a:p>
          <a:p>
            <a:pPr lvl="2"/>
            <a:r>
              <a:rPr lang="en-GB" dirty="0"/>
              <a:t>When program accesses memory, always first check whether page is in memory</a:t>
            </a:r>
          </a:p>
          <a:p>
            <a:pPr lvl="1"/>
            <a:r>
              <a:rPr lang="en-GB" dirty="0"/>
              <a:t>If page is not loaded – “page fault”, leads to process interruption and I/O operations</a:t>
            </a:r>
          </a:p>
        </p:txBody>
      </p:sp>
    </p:spTree>
    <p:extLst>
      <p:ext uri="{BB962C8B-B14F-4D97-AF65-F5344CB8AC3E}">
        <p14:creationId xmlns:p14="http://schemas.microsoft.com/office/powerpoint/2010/main" val="888658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Page Fault Handling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9617" y="1196753"/>
            <a:ext cx="7278168" cy="5480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ounded Rectangle 2"/>
          <p:cNvSpPr/>
          <p:nvPr/>
        </p:nvSpPr>
        <p:spPr>
          <a:xfrm>
            <a:off x="4583832" y="3212976"/>
            <a:ext cx="1152128" cy="1368152"/>
          </a:xfrm>
          <a:prstGeom prst="round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3512" y="1988840"/>
            <a:ext cx="99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</a:t>
            </a:r>
          </a:p>
        </p:txBody>
      </p:sp>
      <p:cxnSp>
        <p:nvCxnSpPr>
          <p:cNvPr id="9" name="Elbow Connector 8"/>
          <p:cNvCxnSpPr/>
          <p:nvPr/>
        </p:nvCxnSpPr>
        <p:spPr>
          <a:xfrm rot="16200000" flipH="1">
            <a:off x="1674730" y="2881720"/>
            <a:ext cx="1434669" cy="368991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6648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5266928" cy="452596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Page table entries are annotated with control bits:</a:t>
            </a:r>
          </a:p>
          <a:p>
            <a:pPr lvl="1"/>
            <a:r>
              <a:rPr lang="en-GB" dirty="0"/>
              <a:t>Present or valid bit: indicates whether a page is loaded into memory or not</a:t>
            </a:r>
          </a:p>
          <a:p>
            <a:pPr lvl="1"/>
            <a:r>
              <a:rPr lang="en-GB" dirty="0"/>
              <a:t>Modify bit: indicates whether a page has been modified since it was loaded</a:t>
            </a:r>
          </a:p>
          <a:p>
            <a:pPr lvl="2"/>
            <a:r>
              <a:rPr lang="en-GB" dirty="0"/>
              <a:t>If not, no need to write it out when it is replaced</a:t>
            </a:r>
          </a:p>
          <a:p>
            <a:pPr lvl="1"/>
            <a:r>
              <a:rPr lang="en-GB" dirty="0"/>
              <a:t>Other bits may indicate read/write protection, whether a page is shared etc.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646293" y="2602309"/>
            <a:ext cx="1878012" cy="2667000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7597080" y="2886472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597080" y="3191272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597080" y="3496072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597080" y="3800872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7597080" y="4105672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7597080" y="4662884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7597080" y="4943872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9044880" y="2276872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9120203" y="2551787"/>
            <a:ext cx="3129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v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9121790" y="2851825"/>
            <a:ext cx="3129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v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9120203" y="3151862"/>
            <a:ext cx="3129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v</a:t>
            </a: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9121790" y="3480475"/>
            <a:ext cx="3129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v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9152830" y="3800872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i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9152830" y="4639072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i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9152830" y="4943872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i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8098730" y="4181872"/>
            <a:ext cx="476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….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7952681" y="2276872"/>
            <a:ext cx="8429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Frame #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9068694" y="2276872"/>
            <a:ext cx="1347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valid-invalid bit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8147944" y="5248672"/>
            <a:ext cx="10112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page table</a:t>
            </a:r>
          </a:p>
        </p:txBody>
      </p:sp>
    </p:spTree>
    <p:extLst>
      <p:ext uri="{BB962C8B-B14F-4D97-AF65-F5344CB8AC3E}">
        <p14:creationId xmlns:p14="http://schemas.microsoft.com/office/powerpoint/2010/main" val="16169116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Principle of Locality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GB" dirty="0"/>
              <a:t>References to memory locations tend to cluster.</a:t>
            </a:r>
          </a:p>
          <a:p>
            <a:pPr lvl="1"/>
            <a:r>
              <a:rPr lang="en-GB" dirty="0"/>
              <a:t>E.g., accessing next element of array</a:t>
            </a:r>
          </a:p>
          <a:p>
            <a:r>
              <a:rPr lang="en-GB" dirty="0"/>
              <a:t>By using paging, you are less likely to need another page soon, making virtual memory schemes (with their overheads) useful.</a:t>
            </a:r>
          </a:p>
          <a:p>
            <a:r>
              <a:rPr lang="en-GB" dirty="0"/>
              <a:t>Only a small subset of a process’ memory is usually needed within RAM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4845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Paging: Address Translation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3814094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 executing program uses a logical address for addressing memory locations</a:t>
            </a:r>
          </a:p>
          <a:p>
            <a:r>
              <a:rPr lang="en-US" dirty="0"/>
              <a:t>This logical address points to a particular location in virtual memory</a:t>
            </a:r>
          </a:p>
          <a:p>
            <a:pPr lvl="1"/>
            <a:r>
              <a:rPr lang="en-US" dirty="0"/>
              <a:t>Location within a virtual memory </a:t>
            </a:r>
            <a:r>
              <a:rPr lang="en-US" b="1" dirty="0"/>
              <a:t>page</a:t>
            </a:r>
          </a:p>
          <a:p>
            <a:r>
              <a:rPr lang="en-US" dirty="0"/>
              <a:t>The logical address must contain information about the virtual memory </a:t>
            </a:r>
            <a:r>
              <a:rPr lang="en-US" b="1" i="1" dirty="0"/>
              <a:t>page</a:t>
            </a:r>
            <a:r>
              <a:rPr lang="en-US" dirty="0"/>
              <a:t> and the </a:t>
            </a:r>
            <a:r>
              <a:rPr lang="en-US" b="1" i="1" dirty="0"/>
              <a:t>offset</a:t>
            </a:r>
            <a:r>
              <a:rPr lang="en-US" dirty="0"/>
              <a:t> within this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5CE065-1A25-804F-A6E2-E79CB7DF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53271"/>
            <a:ext cx="47498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977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Paging: Address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429000"/>
            <a:ext cx="8229600" cy="3052936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Logical addresses have two parts</a:t>
            </a:r>
          </a:p>
          <a:p>
            <a:pPr lvl="1"/>
            <a:r>
              <a:rPr lang="en-GB" dirty="0"/>
              <a:t>Page number (</a:t>
            </a:r>
            <a:r>
              <a:rPr lang="en-GB" b="1" dirty="0">
                <a:solidFill>
                  <a:srgbClr val="FF0000"/>
                </a:solidFill>
              </a:rPr>
              <a:t>p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Used as an index into the page table</a:t>
            </a:r>
          </a:p>
          <a:p>
            <a:pPr lvl="2"/>
            <a:r>
              <a:rPr lang="en-GB" dirty="0"/>
              <a:t>An entry in this table contains the base address where a particular page is located in physical memory</a:t>
            </a:r>
          </a:p>
          <a:p>
            <a:pPr lvl="1"/>
            <a:r>
              <a:rPr lang="en-GB" dirty="0"/>
              <a:t>Page offset (</a:t>
            </a:r>
            <a:r>
              <a:rPr lang="en-GB" b="1" dirty="0">
                <a:solidFill>
                  <a:srgbClr val="FF0000"/>
                </a:solidFill>
              </a:rPr>
              <a:t>d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Combined with the base address, defines the physical memory address within the space in memory occupied by the page</a:t>
            </a:r>
          </a:p>
          <a:p>
            <a:pPr lvl="1"/>
            <a:r>
              <a:rPr lang="en-GB" dirty="0"/>
              <a:t>The high-order m-n bits encode the page number (index into page table), lower n bits encode the page offset</a:t>
            </a:r>
          </a:p>
          <a:p>
            <a:pPr lvl="1"/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6506170" y="1753072"/>
            <a:ext cx="33263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address space: 2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Size of a page: 2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 of pages: 2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m-n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5628" y="3501008"/>
            <a:ext cx="183081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Size of page table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9161732" y="2924944"/>
            <a:ext cx="0" cy="5760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1D84D0C-974D-E347-B58C-AEEDB353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70" y="1400501"/>
            <a:ext cx="38862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898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Paging: Address Translation</a:t>
            </a:r>
          </a:p>
        </p:txBody>
      </p:sp>
      <p:pic>
        <p:nvPicPr>
          <p:cNvPr id="5" name="Content Placeholder 3" descr="Fig08_03.gif"/>
          <p:cNvPicPr>
            <a:picLocks noChangeAspect="1"/>
          </p:cNvPicPr>
          <p:nvPr/>
        </p:nvPicPr>
        <p:blipFill>
          <a:blip r:embed="rId2" cstate="print"/>
          <a:srcRect l="-10179" r="-10179"/>
          <a:stretch>
            <a:fillRect/>
          </a:stretch>
        </p:blipFill>
        <p:spPr>
          <a:xfrm>
            <a:off x="1659972" y="1196752"/>
            <a:ext cx="9008029" cy="558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0398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Address Translation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81200" y="5268342"/>
            <a:ext cx="8229600" cy="1184995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The physical address of memory location is generated by retrieving the physical base address of a page from the page table (index into page table contained in logical address) and combining it with the offset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/>
          <a:srcRect t="656" r="1525"/>
          <a:stretch/>
        </p:blipFill>
        <p:spPr>
          <a:xfrm>
            <a:off x="2895600" y="1295021"/>
            <a:ext cx="6440760" cy="39741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3952" y="2996953"/>
            <a:ext cx="1263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Frame number</a:t>
            </a:r>
          </a:p>
        </p:txBody>
      </p:sp>
      <p:sp>
        <p:nvSpPr>
          <p:cNvPr id="2" name="Oval 1"/>
          <p:cNvSpPr/>
          <p:nvPr/>
        </p:nvSpPr>
        <p:spPr>
          <a:xfrm>
            <a:off x="2934812" y="1772816"/>
            <a:ext cx="1484788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519936" y="4077072"/>
            <a:ext cx="1800200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75520" y="2132857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number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6816080" y="1844824"/>
            <a:ext cx="1944216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60297" y="1556792"/>
            <a:ext cx="146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Size of page ?</a:t>
            </a:r>
          </a:p>
        </p:txBody>
      </p:sp>
    </p:spTree>
    <p:extLst>
      <p:ext uri="{BB962C8B-B14F-4D97-AF65-F5344CB8AC3E}">
        <p14:creationId xmlns:p14="http://schemas.microsoft.com/office/powerpoint/2010/main" val="23891846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Calculate Logical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2777"/>
            <a:ext cx="8229600" cy="396044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Let’s assume:</a:t>
            </a:r>
          </a:p>
          <a:p>
            <a:pPr lvl="1"/>
            <a:r>
              <a:rPr lang="en-US" b="1" dirty="0"/>
              <a:t>Virtual memory consists of 32 pages</a:t>
            </a:r>
          </a:p>
          <a:p>
            <a:pPr lvl="1"/>
            <a:r>
              <a:rPr lang="en-US" dirty="0"/>
              <a:t>A page is of size 2kB</a:t>
            </a:r>
          </a:p>
          <a:p>
            <a:pPr lvl="1"/>
            <a:r>
              <a:rPr lang="en-US" dirty="0"/>
              <a:t>Actual physical memory consists of 8 frames</a:t>
            </a:r>
          </a:p>
          <a:p>
            <a:r>
              <a:rPr lang="en-US" dirty="0"/>
              <a:t>How many bits needed for </a:t>
            </a:r>
            <a:r>
              <a:rPr lang="en-US" b="1" dirty="0">
                <a:solidFill>
                  <a:srgbClr val="FF0000"/>
                </a:solidFill>
              </a:rPr>
              <a:t>logical address</a:t>
            </a:r>
            <a:r>
              <a:rPr lang="en-US" dirty="0"/>
              <a:t>?</a:t>
            </a:r>
          </a:p>
          <a:p>
            <a:r>
              <a:rPr lang="en-US" dirty="0"/>
              <a:t>Addressing virtual memory (logical address space):</a:t>
            </a:r>
          </a:p>
          <a:p>
            <a:pPr lvl="1"/>
            <a:r>
              <a:rPr lang="en-US" dirty="0"/>
              <a:t>How many bits?</a:t>
            </a:r>
          </a:p>
          <a:p>
            <a:pPr lvl="2"/>
            <a:r>
              <a:rPr lang="en-US" dirty="0"/>
              <a:t>Page size: 2kB = 2048 bytes = 2</a:t>
            </a:r>
            <a:r>
              <a:rPr lang="en-US" baseline="30000" dirty="0"/>
              <a:t>11</a:t>
            </a:r>
            <a:r>
              <a:rPr lang="en-US" dirty="0"/>
              <a:t> bytes</a:t>
            </a:r>
          </a:p>
          <a:p>
            <a:pPr lvl="2"/>
            <a:r>
              <a:rPr lang="en-US" dirty="0"/>
              <a:t>We need 11 bits for the offset within a page</a:t>
            </a:r>
          </a:p>
          <a:p>
            <a:pPr lvl="2"/>
            <a:r>
              <a:rPr lang="en-US" dirty="0"/>
              <a:t>We have 32 = 2</a:t>
            </a:r>
            <a:r>
              <a:rPr lang="en-US" baseline="30000" dirty="0"/>
              <a:t>5</a:t>
            </a:r>
            <a:r>
              <a:rPr lang="en-US" dirty="0"/>
              <a:t> pages</a:t>
            </a:r>
          </a:p>
          <a:p>
            <a:pPr lvl="2"/>
            <a:r>
              <a:rPr lang="en-US" dirty="0"/>
              <a:t>We need 5 bits for the index in the page table (page number)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4573" y="5641504"/>
            <a:ext cx="2981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Address: 16 bit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81F5CC-1CB8-444F-9E18-3D32272E7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181600"/>
            <a:ext cx="38862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321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Calculate Physical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306038"/>
            <a:ext cx="8229600" cy="388843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Let’s assume:</a:t>
            </a:r>
          </a:p>
          <a:p>
            <a:pPr lvl="1"/>
            <a:r>
              <a:rPr lang="en-US" dirty="0"/>
              <a:t>Virtual memory consists of 32 pages</a:t>
            </a:r>
          </a:p>
          <a:p>
            <a:pPr lvl="1"/>
            <a:r>
              <a:rPr lang="en-US" dirty="0"/>
              <a:t>A page is of size 2kB</a:t>
            </a:r>
          </a:p>
          <a:p>
            <a:pPr lvl="1"/>
            <a:r>
              <a:rPr lang="en-US" b="1" dirty="0"/>
              <a:t>Actual physical memory only consists of 8 frames</a:t>
            </a:r>
          </a:p>
          <a:p>
            <a:r>
              <a:rPr lang="en-US" dirty="0"/>
              <a:t>How many bits needed for </a:t>
            </a:r>
            <a:r>
              <a:rPr lang="en-US" b="1" dirty="0">
                <a:solidFill>
                  <a:srgbClr val="FF0000"/>
                </a:solidFill>
              </a:rPr>
              <a:t>physical address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Note: 1kB = 1024 bytes = 2</a:t>
            </a:r>
            <a:r>
              <a:rPr lang="en-US" baseline="30000" dirty="0"/>
              <a:t>10</a:t>
            </a:r>
            <a:r>
              <a:rPr lang="en-US" dirty="0"/>
              <a:t> bytes, 10 bits needed for addressing each byte within a page of size 1kB</a:t>
            </a:r>
          </a:p>
          <a:p>
            <a:r>
              <a:rPr lang="en-US" dirty="0"/>
              <a:t>Addressing physical memory:</a:t>
            </a:r>
          </a:p>
          <a:p>
            <a:pPr lvl="1"/>
            <a:r>
              <a:rPr lang="en-US" dirty="0"/>
              <a:t>How many bits for the physical address?</a:t>
            </a:r>
          </a:p>
          <a:p>
            <a:pPr lvl="2"/>
            <a:r>
              <a:rPr lang="en-US" dirty="0"/>
              <a:t>We need 11 bits for the offset within a frame (same size as page)</a:t>
            </a:r>
          </a:p>
          <a:p>
            <a:pPr lvl="2"/>
            <a:r>
              <a:rPr lang="en-US" dirty="0"/>
              <a:t>We have 8 = 2</a:t>
            </a:r>
            <a:r>
              <a:rPr lang="en-US" baseline="30000" dirty="0"/>
              <a:t>3</a:t>
            </a:r>
            <a:r>
              <a:rPr lang="en-US" dirty="0"/>
              <a:t> frames</a:t>
            </a:r>
          </a:p>
          <a:p>
            <a:pPr lvl="2"/>
            <a:r>
              <a:rPr lang="en-US" dirty="0"/>
              <a:t>We need 3 bits for addressing a frame (content of page table)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6160" y="5497488"/>
            <a:ext cx="3125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Physical Address: 14 bit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9D31B03-E3FA-F543-B5FE-12B2E0398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4979020"/>
            <a:ext cx="38862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74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067D-079C-E964-BAEF-22C5D43C0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2B30-1FEA-038C-6D2C-066806E1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From Logical to Physical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574C5-BF12-5591-6750-13B614836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1306038"/>
            <a:ext cx="8229600" cy="388843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Assume a system with a page size of 2KiB and 512MiB of RAM. How many pages do we have?</a:t>
            </a:r>
          </a:p>
          <a:p>
            <a:pPr lvl="1"/>
            <a:r>
              <a:rPr lang="en-US" dirty="0"/>
              <a:t>512MiB=512x1024KiB. So a total of 2x512x1024 pages. (i.e., 1048576 = 1MiB of pages; we would need 20 bits to store this)</a:t>
            </a:r>
          </a:p>
          <a:p>
            <a:pPr lvl="1"/>
            <a:r>
              <a:rPr lang="en-US" dirty="0"/>
              <a:t>And another 11 bits for the offset.</a:t>
            </a:r>
          </a:p>
          <a:p>
            <a:r>
              <a:rPr lang="en-US" dirty="0"/>
              <a:t>Now assume we are given a logical address of 113204. What is the physical address?</a:t>
            </a:r>
          </a:p>
          <a:p>
            <a:pPr lvl="1"/>
            <a:r>
              <a:rPr lang="en-US" dirty="0"/>
              <a:t>113204 is what page number?</a:t>
            </a:r>
          </a:p>
          <a:p>
            <a:pPr lvl="2"/>
            <a:r>
              <a:rPr lang="en-US" dirty="0"/>
              <a:t>113204/2048 = 55.27… So page number 55</a:t>
            </a:r>
          </a:p>
          <a:p>
            <a:pPr lvl="1"/>
            <a:r>
              <a:rPr lang="en-US" dirty="0"/>
              <a:t>What is the offset? 113204-(55x2048)=564</a:t>
            </a:r>
          </a:p>
          <a:p>
            <a:pPr lvl="1"/>
            <a:r>
              <a:rPr lang="en-US" dirty="0"/>
              <a:t>Assume page 55 maps to frame 26.</a:t>
            </a:r>
          </a:p>
          <a:p>
            <a:pPr lvl="2"/>
            <a:r>
              <a:rPr lang="en-US" dirty="0"/>
              <a:t>26x2048+564=</a:t>
            </a:r>
            <a:r>
              <a:rPr lang="en-US" b="1" dirty="0"/>
              <a:t>53812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24947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There is no external fragmentation</a:t>
            </a:r>
          </a:p>
          <a:p>
            <a:pPr lvl="1"/>
            <a:r>
              <a:rPr lang="en-GB" dirty="0"/>
              <a:t>Any free frame can be allocated to a process that needs it</a:t>
            </a:r>
          </a:p>
          <a:p>
            <a:pPr lvl="1"/>
            <a:r>
              <a:rPr lang="en-GB" dirty="0"/>
              <a:t>This is due to the correspondence between page size and frame size</a:t>
            </a:r>
          </a:p>
          <a:p>
            <a:r>
              <a:rPr lang="en-GB" dirty="0"/>
              <a:t>There is internal fragmentation</a:t>
            </a:r>
          </a:p>
          <a:p>
            <a:pPr lvl="1"/>
            <a:r>
              <a:rPr lang="en-GB" dirty="0"/>
              <a:t>As page / frame sizes are fixed, there may be some waste</a:t>
            </a:r>
          </a:p>
          <a:p>
            <a:pPr lvl="2"/>
            <a:r>
              <a:rPr lang="en-GB" dirty="0"/>
              <a:t>The last frame allocated to a process may not be fully needed </a:t>
            </a:r>
          </a:p>
          <a:p>
            <a:pPr lvl="2"/>
            <a:r>
              <a:rPr lang="en-GB" dirty="0"/>
              <a:t>Worst case: process may need n frames plus one additional byte! A complete additional frame must be allocated just for this additional byte of required memory</a:t>
            </a:r>
          </a:p>
          <a:p>
            <a:pPr lvl="1"/>
            <a:r>
              <a:rPr lang="en-GB" dirty="0"/>
              <a:t>Expected internal fragmentation: on average one-half page per process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95288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Resident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resident set </a:t>
            </a:r>
            <a:r>
              <a:rPr lang="en-GB" dirty="0"/>
              <a:t>is the number of pages currently loaded into physical memory for a process</a:t>
            </a:r>
          </a:p>
          <a:p>
            <a:r>
              <a:rPr lang="en-GB" dirty="0"/>
              <a:t>Is restricted by the number of frames the operating system allocates to a process (not an issue with 64 bit OSs)</a:t>
            </a:r>
          </a:p>
          <a:p>
            <a:r>
              <a:rPr lang="en-GB" dirty="0"/>
              <a:t>Fetch, replacement and placement policies decide when a page should be loaded or replaced in memory, and where the page should be loaded.</a:t>
            </a:r>
          </a:p>
        </p:txBody>
      </p:sp>
    </p:spTree>
    <p:extLst>
      <p:ext uri="{BB962C8B-B14F-4D97-AF65-F5344CB8AC3E}">
        <p14:creationId xmlns:p14="http://schemas.microsoft.com/office/powerpoint/2010/main" val="4026348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8DB14502962D419D9417ED5ACDA231" ma:contentTypeVersion="8" ma:contentTypeDescription="Create a new document." ma:contentTypeScope="" ma:versionID="b4ede9465d37b3bee0128b87e3606b8d">
  <xsd:schema xmlns:xsd="http://www.w3.org/2001/XMLSchema" xmlns:xs="http://www.w3.org/2001/XMLSchema" xmlns:p="http://schemas.microsoft.com/office/2006/metadata/properties" xmlns:ns2="51a4a141-491c-4f5e-80f2-5dd3e0bdcc31" targetNamespace="http://schemas.microsoft.com/office/2006/metadata/properties" ma:root="true" ma:fieldsID="8a972dcc519a08759ca8b361c7932682" ns2:_="">
    <xsd:import namespace="51a4a141-491c-4f5e-80f2-5dd3e0bdc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a4a141-491c-4f5e-80f2-5dd3e0bdcc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01DA0B-5568-482F-8AC3-743023BFE1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a4a141-491c-4f5e-80f2-5dd3e0bdcc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31EF9C-3EBB-46E0-BB5D-5ACA67094F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64E6D8-2456-47E1-9187-EB77A3A00AF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51a4a141-491c-4f5e-80f2-5dd3e0bdcc3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3628</Words>
  <Application>Microsoft Office PowerPoint</Application>
  <PresentationFormat>Widescreen</PresentationFormat>
  <Paragraphs>604</Paragraphs>
  <Slides>62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Arial</vt:lpstr>
      <vt:lpstr>Calibri</vt:lpstr>
      <vt:lpstr>Calibri Light</vt:lpstr>
      <vt:lpstr>Helvetica</vt:lpstr>
      <vt:lpstr>Office Theme</vt:lpstr>
      <vt:lpstr>1_Office Theme</vt:lpstr>
      <vt:lpstr>Memory Management</vt:lpstr>
      <vt:lpstr>Computer System Functions</vt:lpstr>
      <vt:lpstr>Allocating Memory to Programs</vt:lpstr>
      <vt:lpstr>Concurrent Execution</vt:lpstr>
      <vt:lpstr>Core Concepts</vt:lpstr>
      <vt:lpstr>Memory Management</vt:lpstr>
      <vt:lpstr>Memory Management</vt:lpstr>
      <vt:lpstr>Contiguous vs Non-contiguous Allocation</vt:lpstr>
      <vt:lpstr>Partitioning</vt:lpstr>
      <vt:lpstr>Partitioning</vt:lpstr>
      <vt:lpstr>Fixed Partitioning</vt:lpstr>
      <vt:lpstr>Fixed Partitioning Equal Partition Size</vt:lpstr>
      <vt:lpstr>Process Replacement, Swapping</vt:lpstr>
      <vt:lpstr>Addressing Memory</vt:lpstr>
      <vt:lpstr>Program Relocation</vt:lpstr>
      <vt:lpstr>Relative Addressing – Using an Offset</vt:lpstr>
      <vt:lpstr>Relative Addressing</vt:lpstr>
      <vt:lpstr>Relocation with Relative Addressing Logical vs Physical Addressing</vt:lpstr>
      <vt:lpstr>Relocation with Relative Addressing</vt:lpstr>
      <vt:lpstr>Problem: Memory Waste</vt:lpstr>
      <vt:lpstr>Problem: Internal Fragmentation</vt:lpstr>
      <vt:lpstr>Fixed Partitioning, Unequal Size Minimize Internal Fragmentation</vt:lpstr>
      <vt:lpstr>Process Replacement  Memory Assignment Problem</vt:lpstr>
      <vt:lpstr>Dynamic Partitioning On-demand allocation of a Slice of Memory</vt:lpstr>
      <vt:lpstr>Effect of Dynamic Partitioning</vt:lpstr>
      <vt:lpstr>Problem: External Fragmentation</vt:lpstr>
      <vt:lpstr>Strategy: Compaction</vt:lpstr>
      <vt:lpstr>Dynamic Placement Strategies</vt:lpstr>
      <vt:lpstr>Buddy System</vt:lpstr>
      <vt:lpstr>Tree Representation of Buddy System</vt:lpstr>
      <vt:lpstr>Buddy System</vt:lpstr>
      <vt:lpstr>Buddy System</vt:lpstr>
      <vt:lpstr>Buddy System</vt:lpstr>
      <vt:lpstr>Buddy System</vt:lpstr>
      <vt:lpstr>Buddy System Example</vt:lpstr>
      <vt:lpstr>Buddy System Example</vt:lpstr>
      <vt:lpstr>Buddy System Example</vt:lpstr>
      <vt:lpstr>Buddy System Example</vt:lpstr>
      <vt:lpstr>Buddy System Example</vt:lpstr>
      <vt:lpstr>Buddy System Example</vt:lpstr>
      <vt:lpstr>Buddy System Example</vt:lpstr>
      <vt:lpstr>Memory Management Task</vt:lpstr>
      <vt:lpstr>Virtualization Memory Management</vt:lpstr>
      <vt:lpstr>Virtual Memory Management</vt:lpstr>
      <vt:lpstr>Paging</vt:lpstr>
      <vt:lpstr>Paging</vt:lpstr>
      <vt:lpstr>Paging and Virtual Memory</vt:lpstr>
      <vt:lpstr>Page Table of a process</vt:lpstr>
      <vt:lpstr>Page Table Management</vt:lpstr>
      <vt:lpstr>Demand Paging</vt:lpstr>
      <vt:lpstr>Page Fault Handling</vt:lpstr>
      <vt:lpstr>Control Bits</vt:lpstr>
      <vt:lpstr>Principle of Locality</vt:lpstr>
      <vt:lpstr>Paging: Address Translation</vt:lpstr>
      <vt:lpstr>Paging: Address Translation</vt:lpstr>
      <vt:lpstr>Paging: Address Translation</vt:lpstr>
      <vt:lpstr>Address Translation</vt:lpstr>
      <vt:lpstr>Example: Calculate Logical Address</vt:lpstr>
      <vt:lpstr>Example: Calculate Physical Address</vt:lpstr>
      <vt:lpstr>Example: From Logical to Physical Addresses</vt:lpstr>
      <vt:lpstr>Fragmentation</vt:lpstr>
      <vt:lpstr>Resident 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</dc:title>
  <dc:creator>Raja Akram</dc:creator>
  <cp:lastModifiedBy>Ciocarlan, Ana</cp:lastModifiedBy>
  <cp:revision>29</cp:revision>
  <dcterms:created xsi:type="dcterms:W3CDTF">2020-09-04T14:21:52Z</dcterms:created>
  <dcterms:modified xsi:type="dcterms:W3CDTF">2025-10-22T15:26:17Z</dcterms:modified>
</cp:coreProperties>
</file>