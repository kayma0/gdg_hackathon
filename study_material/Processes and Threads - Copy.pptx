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3" r:id="rId5"/>
  </p:sldMasterIdLst>
  <p:notesMasterIdLst>
    <p:notesMasterId r:id="rId41"/>
  </p:notesMasterIdLst>
  <p:sldIdLst>
    <p:sldId id="279" r:id="rId6"/>
    <p:sldId id="298" r:id="rId7"/>
    <p:sldId id="299" r:id="rId8"/>
    <p:sldId id="305" r:id="rId9"/>
    <p:sldId id="285" r:id="rId10"/>
    <p:sldId id="326" r:id="rId11"/>
    <p:sldId id="287" r:id="rId12"/>
    <p:sldId id="328" r:id="rId13"/>
    <p:sldId id="329" r:id="rId14"/>
    <p:sldId id="300" r:id="rId15"/>
    <p:sldId id="311" r:id="rId16"/>
    <p:sldId id="268" r:id="rId17"/>
    <p:sldId id="269" r:id="rId18"/>
    <p:sldId id="312" r:id="rId19"/>
    <p:sldId id="288" r:id="rId20"/>
    <p:sldId id="270" r:id="rId21"/>
    <p:sldId id="272" r:id="rId22"/>
    <p:sldId id="273" r:id="rId23"/>
    <p:sldId id="274" r:id="rId24"/>
    <p:sldId id="275" r:id="rId25"/>
    <p:sldId id="276" r:id="rId26"/>
    <p:sldId id="282" r:id="rId27"/>
    <p:sldId id="277" r:id="rId28"/>
    <p:sldId id="301" r:id="rId29"/>
    <p:sldId id="327" r:id="rId30"/>
    <p:sldId id="302" r:id="rId31"/>
    <p:sldId id="303" r:id="rId32"/>
    <p:sldId id="278" r:id="rId33"/>
    <p:sldId id="281" r:id="rId34"/>
    <p:sldId id="330" r:id="rId35"/>
    <p:sldId id="280" r:id="rId36"/>
    <p:sldId id="293" r:id="rId37"/>
    <p:sldId id="294" r:id="rId38"/>
    <p:sldId id="292" r:id="rId39"/>
    <p:sldId id="295" r:id="rId40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A99"/>
    <a:srgbClr val="404040"/>
    <a:srgbClr val="DAD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74"/>
    <p:restoredTop sz="94830"/>
  </p:normalViewPr>
  <p:slideViewPr>
    <p:cSldViewPr>
      <p:cViewPr varScale="1">
        <p:scale>
          <a:sx n="104" d="100"/>
          <a:sy n="104" d="100"/>
        </p:scale>
        <p:origin x="49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ram, Raja" userId="dd25fc10-a4ec-4121-97ef-7e32320fc7c9" providerId="ADAL" clId="{EE85147C-79ED-7148-8D61-3E2EDE9E4014}"/>
    <pc:docChg chg="undo custSel addSld delSld modSld">
      <pc:chgData name="Akram, Raja" userId="dd25fc10-a4ec-4121-97ef-7e32320fc7c9" providerId="ADAL" clId="{EE85147C-79ED-7148-8D61-3E2EDE9E4014}" dt="2020-09-16T13:17:53.093" v="48" actId="27636"/>
      <pc:docMkLst>
        <pc:docMk/>
      </pc:docMkLst>
      <pc:sldChg chg="modSp mod">
        <pc:chgData name="Akram, Raja" userId="dd25fc10-a4ec-4121-97ef-7e32320fc7c9" providerId="ADAL" clId="{EE85147C-79ED-7148-8D61-3E2EDE9E4014}" dt="2020-09-16T13:17:40.768" v="27" actId="20577"/>
        <pc:sldMkLst>
          <pc:docMk/>
          <pc:sldMk cId="119101843" sldId="279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568829650" sldId="285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3931713331" sldId="285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652946051" sldId="293"/>
        </pc:sldMkLst>
      </pc:sldChg>
      <pc:sldChg chg="modSp add mod">
        <pc:chgData name="Akram, Raja" userId="dd25fc10-a4ec-4121-97ef-7e32320fc7c9" providerId="ADAL" clId="{EE85147C-79ED-7148-8D61-3E2EDE9E4014}" dt="2020-09-16T13:17:52.966" v="46" actId="27636"/>
        <pc:sldMkLst>
          <pc:docMk/>
          <pc:sldMk cId="4147479885" sldId="293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1067334007" sldId="298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2104305259" sldId="298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174299334" sldId="299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1551077311" sldId="299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3028123148" sldId="300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4116972232" sldId="300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1060448756" sldId="301"/>
        </pc:sldMkLst>
      </pc:sldChg>
      <pc:sldChg chg="add del">
        <pc:chgData name="Akram, Raja" userId="dd25fc10-a4ec-4121-97ef-7e32320fc7c9" providerId="ADAL" clId="{EE85147C-79ED-7148-8D61-3E2EDE9E4014}" dt="2020-09-16T13:17:52.281" v="44"/>
        <pc:sldMkLst>
          <pc:docMk/>
          <pc:sldMk cId="1062810425" sldId="301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2758988630" sldId="302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3436150866" sldId="302"/>
        </pc:sldMkLst>
      </pc:sldChg>
      <pc:sldChg chg="modSp add mod">
        <pc:chgData name="Akram, Raja" userId="dd25fc10-a4ec-4121-97ef-7e32320fc7c9" providerId="ADAL" clId="{EE85147C-79ED-7148-8D61-3E2EDE9E4014}" dt="2020-09-16T13:17:53.093" v="48" actId="27636"/>
        <pc:sldMkLst>
          <pc:docMk/>
          <pc:sldMk cId="205056895" sldId="303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3919777292" sldId="303"/>
        </pc:sldMkLst>
      </pc:sldChg>
      <pc:sldChg chg="modSp add mod">
        <pc:chgData name="Akram, Raja" userId="dd25fc10-a4ec-4121-97ef-7e32320fc7c9" providerId="ADAL" clId="{EE85147C-79ED-7148-8D61-3E2EDE9E4014}" dt="2020-09-16T13:17:53.007" v="47" actId="27636"/>
        <pc:sldMkLst>
          <pc:docMk/>
          <pc:sldMk cId="253114220" sldId="305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456018443" sldId="305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31774719" sldId="309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3033406991" sldId="309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2758204484" sldId="322"/>
        </pc:sldMkLst>
      </pc:sldChg>
      <pc:sldChg chg="add del">
        <pc:chgData name="Akram, Raja" userId="dd25fc10-a4ec-4121-97ef-7e32320fc7c9" providerId="ADAL" clId="{EE85147C-79ED-7148-8D61-3E2EDE9E4014}" dt="2020-09-16T13:17:52.281" v="44"/>
        <pc:sldMkLst>
          <pc:docMk/>
          <pc:sldMk cId="2927159266" sldId="322"/>
        </pc:sldMkLst>
      </pc:sldChg>
      <pc:sldChg chg="add del">
        <pc:chgData name="Akram, Raja" userId="dd25fc10-a4ec-4121-97ef-7e32320fc7c9" providerId="ADAL" clId="{EE85147C-79ED-7148-8D61-3E2EDE9E4014}" dt="2020-09-16T13:17:52.281" v="44"/>
        <pc:sldMkLst>
          <pc:docMk/>
          <pc:sldMk cId="1892273099" sldId="325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3515599010" sldId="325"/>
        </pc:sldMkLst>
      </pc:sldChg>
      <pc:sldChg chg="add">
        <pc:chgData name="Akram, Raja" userId="dd25fc10-a4ec-4121-97ef-7e32320fc7c9" providerId="ADAL" clId="{EE85147C-79ED-7148-8D61-3E2EDE9E4014}" dt="2020-09-16T13:17:52.437" v="45"/>
        <pc:sldMkLst>
          <pc:docMk/>
          <pc:sldMk cId="184939364" sldId="326"/>
        </pc:sldMkLst>
      </pc:sldChg>
      <pc:sldChg chg="modSp add del mod">
        <pc:chgData name="Akram, Raja" userId="dd25fc10-a4ec-4121-97ef-7e32320fc7c9" providerId="ADAL" clId="{EE85147C-79ED-7148-8D61-3E2EDE9E4014}" dt="2020-09-16T13:17:52.281" v="44"/>
        <pc:sldMkLst>
          <pc:docMk/>
          <pc:sldMk cId="1138021472" sldId="326"/>
        </pc:sldMkLst>
      </pc:sldChg>
    </pc:docChg>
  </pc:docChgLst>
  <pc:docChgLst>
    <pc:chgData name="Akram, Raja" userId="dd25fc10-a4ec-4121-97ef-7e32320fc7c9" providerId="ADAL" clId="{82383D34-1443-4345-AC3F-73D906D6E4E4}"/>
    <pc:docChg chg="modSld">
      <pc:chgData name="Akram, Raja" userId="dd25fc10-a4ec-4121-97ef-7e32320fc7c9" providerId="ADAL" clId="{82383D34-1443-4345-AC3F-73D906D6E4E4}" dt="2020-09-16T11:56:39.889" v="0"/>
      <pc:docMkLst>
        <pc:docMk/>
      </pc:docMkLst>
      <pc:sldChg chg="modSp">
        <pc:chgData name="Akram, Raja" userId="dd25fc10-a4ec-4121-97ef-7e32320fc7c9" providerId="ADAL" clId="{82383D34-1443-4345-AC3F-73D906D6E4E4}" dt="2020-09-16T11:56:39.889" v="0"/>
        <pc:sldMkLst>
          <pc:docMk/>
          <pc:sldMk cId="119101843" sldId="279"/>
        </pc:sldMkLst>
      </pc:sldChg>
    </pc:docChg>
  </pc:docChgLst>
  <pc:docChgLst>
    <pc:chgData name="Akram, Raja" userId="dd25fc10-a4ec-4121-97ef-7e32320fc7c9" providerId="ADAL" clId="{B345E553-EDEC-0A43-BE44-7B105C177D7A}"/>
    <pc:docChg chg="custSel mod addSld delSld modSld">
      <pc:chgData name="Akram, Raja" userId="dd25fc10-a4ec-4121-97ef-7e32320fc7c9" providerId="ADAL" clId="{B345E553-EDEC-0A43-BE44-7B105C177D7A}" dt="2020-10-05T10:24:06.152" v="290" actId="122"/>
      <pc:docMkLst>
        <pc:docMk/>
      </pc:docMkLst>
      <pc:sldChg chg="addSp modSp mod setBg">
        <pc:chgData name="Akram, Raja" userId="dd25fc10-a4ec-4121-97ef-7e32320fc7c9" providerId="ADAL" clId="{B345E553-EDEC-0A43-BE44-7B105C177D7A}" dt="2020-10-01T16:29:02.027" v="6" actId="26606"/>
        <pc:sldMkLst>
          <pc:docMk/>
          <pc:sldMk cId="3931713331" sldId="285"/>
        </pc:sldMkLst>
      </pc:sldChg>
      <pc:sldChg chg="addSp modSp mod setBg">
        <pc:chgData name="Akram, Raja" userId="dd25fc10-a4ec-4121-97ef-7e32320fc7c9" providerId="ADAL" clId="{B345E553-EDEC-0A43-BE44-7B105C177D7A}" dt="2020-10-05T10:16:22.309" v="36" actId="20577"/>
        <pc:sldMkLst>
          <pc:docMk/>
          <pc:sldMk cId="4147479885" sldId="293"/>
        </pc:sldMkLst>
      </pc:sldChg>
      <pc:sldChg chg="addSp modSp mod setBg">
        <pc:chgData name="Akram, Raja" userId="dd25fc10-a4ec-4121-97ef-7e32320fc7c9" providerId="ADAL" clId="{B345E553-EDEC-0A43-BE44-7B105C177D7A}" dt="2020-10-01T16:28:44.368" v="3" actId="26606"/>
        <pc:sldMkLst>
          <pc:docMk/>
          <pc:sldMk cId="2104305259" sldId="298"/>
        </pc:sldMkLst>
      </pc:sldChg>
      <pc:sldChg chg="modSp mod">
        <pc:chgData name="Akram, Raja" userId="dd25fc10-a4ec-4121-97ef-7e32320fc7c9" providerId="ADAL" clId="{B345E553-EDEC-0A43-BE44-7B105C177D7A}" dt="2020-10-05T10:16:29.094" v="38" actId="5793"/>
        <pc:sldMkLst>
          <pc:docMk/>
          <pc:sldMk cId="174299334" sldId="299"/>
        </pc:sldMkLst>
      </pc:sldChg>
      <pc:sldChg chg="del">
        <pc:chgData name="Akram, Raja" userId="dd25fc10-a4ec-4121-97ef-7e32320fc7c9" providerId="ADAL" clId="{B345E553-EDEC-0A43-BE44-7B105C177D7A}" dt="2020-10-01T16:28:12.105" v="0" actId="2696"/>
        <pc:sldMkLst>
          <pc:docMk/>
          <pc:sldMk cId="4116972232" sldId="300"/>
        </pc:sldMkLst>
      </pc:sldChg>
      <pc:sldChg chg="addSp modSp mod setBg">
        <pc:chgData name="Akram, Raja" userId="dd25fc10-a4ec-4121-97ef-7e32320fc7c9" providerId="ADAL" clId="{B345E553-EDEC-0A43-BE44-7B105C177D7A}" dt="2020-10-01T16:29:06.803" v="7" actId="26606"/>
        <pc:sldMkLst>
          <pc:docMk/>
          <pc:sldMk cId="1060448756" sldId="301"/>
        </pc:sldMkLst>
      </pc:sldChg>
      <pc:sldChg chg="addSp modSp mod setBg">
        <pc:chgData name="Akram, Raja" userId="dd25fc10-a4ec-4121-97ef-7e32320fc7c9" providerId="ADAL" clId="{B345E553-EDEC-0A43-BE44-7B105C177D7A}" dt="2020-10-01T16:29:10.710" v="8" actId="26606"/>
        <pc:sldMkLst>
          <pc:docMk/>
          <pc:sldMk cId="2758988630" sldId="302"/>
        </pc:sldMkLst>
      </pc:sldChg>
      <pc:sldChg chg="addSp modSp mod setBg">
        <pc:chgData name="Akram, Raja" userId="dd25fc10-a4ec-4121-97ef-7e32320fc7c9" providerId="ADAL" clId="{B345E553-EDEC-0A43-BE44-7B105C177D7A}" dt="2020-10-01T16:29:15.131" v="9" actId="26606"/>
        <pc:sldMkLst>
          <pc:docMk/>
          <pc:sldMk cId="205056895" sldId="303"/>
        </pc:sldMkLst>
      </pc:sldChg>
      <pc:sldChg chg="addSp modSp mod setBg">
        <pc:chgData name="Akram, Raja" userId="dd25fc10-a4ec-4121-97ef-7e32320fc7c9" providerId="ADAL" clId="{B345E553-EDEC-0A43-BE44-7B105C177D7A}" dt="2020-10-01T16:28:57.912" v="5" actId="26606"/>
        <pc:sldMkLst>
          <pc:docMk/>
          <pc:sldMk cId="253114220" sldId="305"/>
        </pc:sldMkLst>
      </pc:sldChg>
      <pc:sldChg chg="addSp delSp modSp new mod">
        <pc:chgData name="Akram, Raja" userId="dd25fc10-a4ec-4121-97ef-7e32320fc7c9" providerId="ADAL" clId="{B345E553-EDEC-0A43-BE44-7B105C177D7A}" dt="2020-10-05T10:24:06.152" v="290" actId="122"/>
        <pc:sldMkLst>
          <pc:docMk/>
          <pc:sldMk cId="761060041" sldId="327"/>
        </pc:sldMkLst>
      </pc:sldChg>
    </pc:docChg>
  </pc:docChgLst>
  <pc:docChgLst>
    <pc:chgData name="Ciocarlan, Ana" userId="dc6c74e0-d6a1-4e80-bb47-b7aefdf5a723" providerId="ADAL" clId="{C61F3274-EBB0-4267-8CA4-5900DFBA7B84}"/>
    <pc:docChg chg="custSel modSld">
      <pc:chgData name="Ciocarlan, Ana" userId="dc6c74e0-d6a1-4e80-bb47-b7aefdf5a723" providerId="ADAL" clId="{C61F3274-EBB0-4267-8CA4-5900DFBA7B84}" dt="2025-09-15T09:12:16.504" v="1" actId="478"/>
      <pc:docMkLst>
        <pc:docMk/>
      </pc:docMkLst>
      <pc:sldChg chg="addSp delSp modSp mod">
        <pc:chgData name="Ciocarlan, Ana" userId="dc6c74e0-d6a1-4e80-bb47-b7aefdf5a723" providerId="ADAL" clId="{C61F3274-EBB0-4267-8CA4-5900DFBA7B84}" dt="2025-09-15T09:12:16.504" v="1" actId="478"/>
        <pc:sldMkLst>
          <pc:docMk/>
          <pc:sldMk cId="119101843" sldId="279"/>
        </pc:sldMkLst>
        <pc:spChg chg="del">
          <ac:chgData name="Ciocarlan, Ana" userId="dc6c74e0-d6a1-4e80-bb47-b7aefdf5a723" providerId="ADAL" clId="{C61F3274-EBB0-4267-8CA4-5900DFBA7B84}" dt="2025-09-15T09:12:15.079" v="0" actId="478"/>
          <ac:spMkLst>
            <pc:docMk/>
            <pc:sldMk cId="119101843" sldId="279"/>
            <ac:spMk id="3" creationId="{00000000-0000-0000-0000-000000000000}"/>
          </ac:spMkLst>
        </pc:spChg>
        <pc:spChg chg="add del mod">
          <ac:chgData name="Ciocarlan, Ana" userId="dc6c74e0-d6a1-4e80-bb47-b7aefdf5a723" providerId="ADAL" clId="{C61F3274-EBB0-4267-8CA4-5900DFBA7B84}" dt="2025-09-15T09:12:16.504" v="1" actId="478"/>
          <ac:spMkLst>
            <pc:docMk/>
            <pc:sldMk cId="119101843" sldId="279"/>
            <ac:spMk id="5" creationId="{252DB1D7-2BC7-5AAD-9184-CA2F159D967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92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87117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9902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0000" y="2491199"/>
            <a:ext cx="8380800" cy="2448000"/>
          </a:xfrm>
        </p:spPr>
        <p:txBody>
          <a:bodyPr tIns="46800" anchor="t" anchorCtr="0">
            <a:noAutofit/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defRPr lang="en-US" sz="5000" b="0" kern="1200" baseline="0" dirty="0">
                <a:solidFill>
                  <a:schemeClr val="accent6"/>
                </a:solidFill>
                <a:latin typeface="+mn-lt"/>
                <a:ea typeface="+mj-ea"/>
                <a:cs typeface="Arial" charset="0"/>
                <a:sym typeface="Arial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0000" y="5014800"/>
            <a:ext cx="8380800" cy="5760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name, if required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49263" y="5679407"/>
            <a:ext cx="8382000" cy="57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Date, if required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00" y="790594"/>
            <a:ext cx="2282400" cy="507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3D349-AF4D-4DC0-9003-CE6EA46A81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000" y="674186"/>
            <a:ext cx="2287159" cy="62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4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835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85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699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215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6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763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583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4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56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690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2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1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D9825-206E-F645-9B17-E81D0D2F0F5B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5B8B5-EB2A-9343-A266-5090BA1FA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02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1E3A99"/>
                </a:solidFill>
              </a:rPr>
              <a:t>Processes and Threads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101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GB" sz="3600"/>
              <a:t>Multithreading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GB" sz="2000" dirty="0"/>
              <a:t>We defined a process as the </a:t>
            </a:r>
            <a:r>
              <a:rPr lang="en-GB" sz="2000" b="1" dirty="0"/>
              <a:t>Unit of resource ownership </a:t>
            </a:r>
            <a:r>
              <a:rPr lang="en-GB" sz="2000" dirty="0"/>
              <a:t>as well as the </a:t>
            </a:r>
            <a:r>
              <a:rPr lang="en-GB" sz="2000" b="1" dirty="0"/>
              <a:t>Unit of dispatching </a:t>
            </a:r>
            <a:r>
              <a:rPr lang="en-GB" sz="2000" dirty="0"/>
              <a:t>of an executable task</a:t>
            </a:r>
            <a:endParaRPr lang="en-GB" sz="2000" b="1" dirty="0"/>
          </a:p>
          <a:p>
            <a:r>
              <a:rPr lang="en-GB" sz="2000" dirty="0"/>
              <a:t>We want to separate these two concerns</a:t>
            </a:r>
          </a:p>
          <a:p>
            <a:pPr lvl="1"/>
            <a:r>
              <a:rPr lang="en-GB" sz="2000" b="1" dirty="0"/>
              <a:t>Resource ownership</a:t>
            </a:r>
            <a:r>
              <a:rPr lang="en-GB" sz="2000" dirty="0"/>
              <a:t>:</a:t>
            </a:r>
          </a:p>
          <a:p>
            <a:pPr lvl="2"/>
            <a:r>
              <a:rPr lang="en-GB" sz="2000" dirty="0"/>
              <a:t>Process remains unit of resource ownership</a:t>
            </a:r>
          </a:p>
          <a:p>
            <a:pPr lvl="1"/>
            <a:r>
              <a:rPr lang="en-GB" sz="2000" b="1" dirty="0"/>
              <a:t>Program Execution / Dispatching</a:t>
            </a:r>
            <a:r>
              <a:rPr lang="en-GB" sz="2000" dirty="0"/>
              <a:t>:</a:t>
            </a:r>
          </a:p>
          <a:p>
            <a:pPr lvl="2"/>
            <a:r>
              <a:rPr lang="en-GB" sz="2000" dirty="0"/>
              <a:t>A process can have multiple </a:t>
            </a:r>
            <a:r>
              <a:rPr lang="en-GB" sz="2000" i="1" dirty="0"/>
              <a:t>threads</a:t>
            </a:r>
            <a:r>
              <a:rPr lang="en-GB" sz="2000" dirty="0"/>
              <a:t> of execution</a:t>
            </a:r>
          </a:p>
          <a:p>
            <a:pPr lvl="2"/>
            <a:r>
              <a:rPr lang="en-GB" sz="2000" dirty="0"/>
              <a:t> Threads (lightweight processes) become the unit of dispatching</a:t>
            </a:r>
          </a:p>
          <a:p>
            <a:pPr lvl="2"/>
            <a:r>
              <a:rPr lang="en-GB" sz="2000" dirty="0"/>
              <a:t>CPU may have multiple cores allowing for true parallel execution of these threads</a:t>
            </a:r>
          </a:p>
          <a:p>
            <a:endParaRPr lang="en-GB" sz="2000" dirty="0"/>
          </a:p>
          <a:p>
            <a:endParaRPr lang="en-GB" sz="2000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05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Multithreading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775468" y="2216376"/>
            <a:ext cx="4244332" cy="4525963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Multithreading is the ability of an operating system to support multiple threads of execution within a single process</a:t>
            </a:r>
          </a:p>
          <a:p>
            <a:endParaRPr lang="en-GB" dirty="0"/>
          </a:p>
          <a:p>
            <a:r>
              <a:rPr lang="en-GB" dirty="0"/>
              <a:t>Traditional Processes have at least one thread of control</a:t>
            </a:r>
          </a:p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786381" y="2216376"/>
            <a:ext cx="4424420" cy="4525963"/>
          </a:xfrm>
        </p:spPr>
        <p:txBody>
          <a:bodyPr>
            <a:normAutofit fontScale="77500" lnSpcReduction="2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Multiple threads run in the same address space, share the same memory areas</a:t>
            </a:r>
          </a:p>
          <a:p>
            <a:pPr lvl="1"/>
            <a:r>
              <a:rPr lang="en-GB" dirty="0"/>
              <a:t>The creation of a thread only creates a new thread control structure, not a separate process image</a:t>
            </a:r>
          </a:p>
          <a:p>
            <a:endParaRPr lang="en-US" dirty="0"/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4002" y="1417638"/>
            <a:ext cx="4653999" cy="308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429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GB" sz="3600"/>
              <a:t>Process – Unit of Resource Ownership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GB" sz="2000"/>
              <a:t>Unit of</a:t>
            </a:r>
            <a:r>
              <a:rPr lang="en-GB" sz="2000" b="1"/>
              <a:t> resource ownership</a:t>
            </a:r>
            <a:r>
              <a:rPr lang="en-GB" sz="2000"/>
              <a:t> and </a:t>
            </a:r>
            <a:r>
              <a:rPr lang="en-GB" sz="2000" b="1"/>
              <a:t>protection</a:t>
            </a:r>
          </a:p>
          <a:p>
            <a:pPr lvl="1"/>
            <a:r>
              <a:rPr lang="en-GB" sz="2000" i="1"/>
              <a:t>Resource ownership</a:t>
            </a:r>
            <a:r>
              <a:rPr lang="en-GB" sz="2000"/>
              <a:t>:</a:t>
            </a:r>
          </a:p>
          <a:p>
            <a:pPr lvl="2"/>
            <a:r>
              <a:rPr lang="en-GB" sz="2000"/>
              <a:t>Process image, virtual address space</a:t>
            </a:r>
          </a:p>
          <a:p>
            <a:pPr lvl="2"/>
            <a:r>
              <a:rPr lang="en-GB" sz="2000"/>
              <a:t>Resources (I/O devices, I/O channels, files, main memory)</a:t>
            </a:r>
          </a:p>
          <a:p>
            <a:pPr lvl="1"/>
            <a:r>
              <a:rPr lang="en-GB" sz="2000"/>
              <a:t>Protection</a:t>
            </a:r>
          </a:p>
          <a:p>
            <a:pPr lvl="2"/>
            <a:r>
              <a:rPr lang="en-GB" sz="2000"/>
              <a:t>Processors, other processes</a:t>
            </a:r>
          </a:p>
          <a:p>
            <a:pPr lvl="3"/>
            <a:r>
              <a:rPr lang="en-GB" dirty="0"/>
              <a:t>Operating system protects process to prevent unwanted interference between processes</a:t>
            </a:r>
          </a:p>
          <a:p>
            <a:pPr lvl="2"/>
            <a:r>
              <a:rPr lang="en-GB" sz="2000"/>
              <a:t>memory, files, I/O resources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4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GB" sz="3600"/>
              <a:t>Threads – Units of Dispatch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GB" sz="2000" dirty="0"/>
              <a:t>Thread is defined as the </a:t>
            </a:r>
            <a:r>
              <a:rPr lang="en-GB" sz="2000" b="1" dirty="0"/>
              <a:t>unit of dispatching</a:t>
            </a:r>
            <a:r>
              <a:rPr lang="en-GB" sz="2000" dirty="0"/>
              <a:t>:</a:t>
            </a:r>
          </a:p>
          <a:p>
            <a:pPr lvl="1"/>
            <a:r>
              <a:rPr lang="en-GB" sz="2000" dirty="0"/>
              <a:t>Represents a single thread of execution within a process</a:t>
            </a:r>
          </a:p>
          <a:p>
            <a:r>
              <a:rPr lang="en-GB" sz="2000" dirty="0"/>
              <a:t>Threads are also called </a:t>
            </a:r>
            <a:r>
              <a:rPr lang="en-GB" sz="2000" i="1" dirty="0"/>
              <a:t>lightweight processes</a:t>
            </a:r>
          </a:p>
          <a:p>
            <a:pPr lvl="1"/>
            <a:r>
              <a:rPr lang="en-GB" sz="2000" dirty="0"/>
              <a:t>Operating system may be able to manage multiple threads of execution directly (e.g. Linux tasks)</a:t>
            </a:r>
          </a:p>
          <a:p>
            <a:r>
              <a:rPr lang="en-GB" sz="2000" dirty="0"/>
              <a:t>A thread is provided with its own register context and stack space (why?)</a:t>
            </a:r>
          </a:p>
          <a:p>
            <a:r>
              <a:rPr lang="en-GB" sz="2000" dirty="0"/>
              <a:t>Multiple threads run in the same address space, share the same memory areas</a:t>
            </a:r>
          </a:p>
          <a:p>
            <a:pPr lvl="1"/>
            <a:r>
              <a:rPr lang="en-GB" sz="2000" dirty="0"/>
              <a:t>The creation of a thread only creates a new thread control structure, not a separate process image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13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Threads in Unix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270067"/>
            <a:ext cx="8229600" cy="107757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Actual thread management is dependent on underlying kernel implementation.</a:t>
            </a:r>
          </a:p>
          <a:p>
            <a:r>
              <a:rPr lang="en-US" dirty="0"/>
              <a:t>Kernel versus user versus mixed user-kernel-level threads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689719" y="2549453"/>
            <a:ext cx="1368152" cy="1800200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22" name="Rectangle 21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91680" y="2348880"/>
              <a:ext cx="894284" cy="92333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Process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Control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Block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545703" y="2405437"/>
            <a:ext cx="1368152" cy="1800200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26" name="Rectangle 25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91680" y="2348880"/>
              <a:ext cx="894284" cy="92333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Process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Control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Block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401687" y="2261421"/>
            <a:ext cx="1368152" cy="1800200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29" name="Rectangle 28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691680" y="2348880"/>
              <a:ext cx="894284" cy="92333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Process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Control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Block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257671" y="2117405"/>
            <a:ext cx="1368152" cy="2088232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32" name="Rectangle 31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691680" y="2348880"/>
              <a:ext cx="894284" cy="79597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Process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Control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Block</a:t>
              </a:r>
            </a:p>
          </p:txBody>
        </p:sp>
      </p:grpSp>
      <p:sp>
        <p:nvSpPr>
          <p:cNvPr id="34" name="Rectangle 33"/>
          <p:cNvSpPr/>
          <p:nvPr/>
        </p:nvSpPr>
        <p:spPr>
          <a:xfrm>
            <a:off x="2817511" y="1757365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745503" y="1109294"/>
            <a:ext cx="894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GB" sz="1800" dirty="0">
                <a:solidFill>
                  <a:prstClr val="black"/>
                </a:solidFill>
                <a:latin typeface="Calibri"/>
              </a:rPr>
              <a:t>Process</a:t>
            </a:r>
          </a:p>
          <a:p>
            <a:pPr algn="ctr" defTabSz="457200"/>
            <a:r>
              <a:rPr lang="en-GB" sz="1800" dirty="0">
                <a:solidFill>
                  <a:prstClr val="black"/>
                </a:solidFill>
                <a:latin typeface="Calibri"/>
              </a:rPr>
              <a:t>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17511" y="1973389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817511" y="2189413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817511" y="2405437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817511" y="2621461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817511" y="2837485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17511" y="3053509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43" name="Shape 42"/>
          <p:cNvCxnSpPr>
            <a:stCxn id="34" idx="3"/>
            <a:endCxn id="32" idx="0"/>
          </p:cNvCxnSpPr>
          <p:nvPr/>
        </p:nvCxnSpPr>
        <p:spPr>
          <a:xfrm>
            <a:off x="3537591" y="1865377"/>
            <a:ext cx="1404156" cy="25202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3537591" y="2117405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3537591" y="2333429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3537591" y="2549453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4818641" y="3161521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818641" y="3377545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818641" y="3593569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818641" y="3809593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sz="18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185663" y="3115935"/>
            <a:ext cx="698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GB" sz="1400" dirty="0">
                <a:solidFill>
                  <a:prstClr val="black"/>
                </a:solidFill>
                <a:latin typeface="Calibri"/>
              </a:rPr>
              <a:t>Thread</a:t>
            </a:r>
          </a:p>
          <a:p>
            <a:pPr algn="ctr" defTabSz="457200"/>
            <a:r>
              <a:rPr lang="en-GB" sz="1400" dirty="0">
                <a:solidFill>
                  <a:prstClr val="black"/>
                </a:solidFill>
                <a:latin typeface="Calibri"/>
              </a:rPr>
              <a:t>Table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7137991" y="3161521"/>
            <a:ext cx="1368152" cy="1800200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54" name="Rectangle 53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691680" y="2348880"/>
              <a:ext cx="894284" cy="92333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Thread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Control</a:t>
              </a:r>
            </a:p>
            <a:p>
              <a:pPr algn="ctr" defTabSz="457200"/>
              <a:r>
                <a:rPr lang="en-GB" sz="1800" dirty="0">
                  <a:solidFill>
                    <a:prstClr val="black"/>
                  </a:solidFill>
                  <a:latin typeface="Calibri"/>
                </a:rPr>
                <a:t>Block</a:t>
              </a:r>
            </a:p>
          </p:txBody>
        </p:sp>
      </p:grpSp>
      <p:cxnSp>
        <p:nvCxnSpPr>
          <p:cNvPr id="56" name="Straight Arrow Connector 55"/>
          <p:cNvCxnSpPr/>
          <p:nvPr/>
        </p:nvCxnSpPr>
        <p:spPr>
          <a:xfrm flipV="1">
            <a:off x="5538721" y="3269533"/>
            <a:ext cx="1599270" cy="3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39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Three categories of threads</a:t>
            </a:r>
          </a:p>
          <a:p>
            <a:pPr lvl="1"/>
            <a:r>
              <a:rPr lang="en-GB" dirty="0"/>
              <a:t>User-level threads</a:t>
            </a:r>
          </a:p>
          <a:p>
            <a:pPr lvl="1"/>
            <a:r>
              <a:rPr lang="en-GB" dirty="0"/>
              <a:t>Kernel-level threads</a:t>
            </a:r>
          </a:p>
          <a:p>
            <a:pPr lvl="1"/>
            <a:r>
              <a:rPr lang="en-GB" dirty="0"/>
              <a:t>Mixed user-kernel-level threads</a:t>
            </a:r>
          </a:p>
          <a:p>
            <a:r>
              <a:rPr lang="en-GB" dirty="0"/>
              <a:t>Characterised by the extent that the kernel is involved in their management</a:t>
            </a:r>
          </a:p>
        </p:txBody>
      </p:sp>
    </p:spTree>
    <p:extLst>
      <p:ext uri="{BB962C8B-B14F-4D97-AF65-F5344CB8AC3E}">
        <p14:creationId xmlns:p14="http://schemas.microsoft.com/office/powerpoint/2010/main" val="300314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181599"/>
            <a:ext cx="8229600" cy="1046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Operating System unaware of threads, completely controlled by User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83832" y="1696361"/>
            <a:ext cx="2952328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43872" y="2428967"/>
            <a:ext cx="2232248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 Library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063552" y="3136521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35560" y="2704473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5561" y="3208529"/>
            <a:ext cx="138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7728" y="3352545"/>
            <a:ext cx="4752528" cy="18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912" y="1696361"/>
            <a:ext cx="1466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1744" y="4648689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43872" y="4003154"/>
            <a:ext cx="2439061" cy="640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 Management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42001" y="2776481"/>
            <a:ext cx="541867" cy="12266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38533" y="2704473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 threads to processes</a:t>
            </a:r>
          </a:p>
        </p:txBody>
      </p:sp>
    </p:spTree>
    <p:extLst>
      <p:ext uri="{BB962C8B-B14F-4D97-AF65-F5344CB8AC3E}">
        <p14:creationId xmlns:p14="http://schemas.microsoft.com/office/powerpoint/2010/main" val="759480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181599"/>
            <a:ext cx="8229600" cy="1046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Operating System manages threads, better mapping of threads to multiple CPU 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83832" y="1696361"/>
            <a:ext cx="2952328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63552" y="3136521"/>
            <a:ext cx="80648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35560" y="2704473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5561" y="3208529"/>
            <a:ext cx="138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7728" y="3352545"/>
            <a:ext cx="4752528" cy="1800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912" y="1696361"/>
            <a:ext cx="1466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1744" y="4648689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43872" y="4003154"/>
            <a:ext cx="2439061" cy="640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 Management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842001" y="2776481"/>
            <a:ext cx="541867" cy="12266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69867" y="3793108"/>
            <a:ext cx="1879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manages threads </a:t>
            </a:r>
          </a:p>
        </p:txBody>
      </p:sp>
    </p:spTree>
    <p:extLst>
      <p:ext uri="{BB962C8B-B14F-4D97-AF65-F5344CB8AC3E}">
        <p14:creationId xmlns:p14="http://schemas.microsoft.com/office/powerpoint/2010/main" val="131355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1486876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Pure User Level Threads</a:t>
            </a:r>
          </a:p>
          <a:p>
            <a:r>
              <a:rPr lang="en-GB" dirty="0"/>
              <a:t>Pure Kernel Level Threads</a:t>
            </a:r>
          </a:p>
          <a:p>
            <a:r>
              <a:rPr lang="en-GB" dirty="0"/>
              <a:t>Combined User / Kernel level threads</a:t>
            </a:r>
          </a:p>
          <a:p>
            <a:pPr lvl="1"/>
            <a:endParaRPr lang="en-GB" dirty="0"/>
          </a:p>
        </p:txBody>
      </p:sp>
      <p:pic>
        <p:nvPicPr>
          <p:cNvPr id="6" name="Picture 5" descr="threads-088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3592" y="3103690"/>
            <a:ext cx="7344816" cy="2504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51585" y="5695979"/>
            <a:ext cx="16562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Pure User-Level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5418" y="5695979"/>
            <a:ext cx="1825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Pure Kernel-Level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8657" y="5695979"/>
            <a:ext cx="16832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Combined Level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ULT/KLT</a:t>
            </a:r>
          </a:p>
        </p:txBody>
      </p:sp>
    </p:spTree>
    <p:extLst>
      <p:ext uri="{BB962C8B-B14F-4D97-AF65-F5344CB8AC3E}">
        <p14:creationId xmlns:p14="http://schemas.microsoft.com/office/powerpoint/2010/main" val="266282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User-Level Threads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836142" y="4437793"/>
            <a:ext cx="657893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53422" y="1630053"/>
            <a:ext cx="2042556" cy="20425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71133" y="3185135"/>
            <a:ext cx="180713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42393" y="3232636"/>
            <a:ext cx="1082732" cy="2769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 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96386" y="3258918"/>
            <a:ext cx="49876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96386" y="3351698"/>
            <a:ext cx="49876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96385" y="3445675"/>
            <a:ext cx="49876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71548" y="1890494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5106" y="1890493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5745" y="1886977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1271" y="1630053"/>
            <a:ext cx="2042556" cy="20425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98982" y="3185135"/>
            <a:ext cx="1807137" cy="3693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70242" y="3232636"/>
            <a:ext cx="1082732" cy="2769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 Library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24235" y="3258918"/>
            <a:ext cx="49876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24235" y="3351698"/>
            <a:ext cx="49876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24234" y="3445675"/>
            <a:ext cx="498763" cy="45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799397" y="1890494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2955" y="1890493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7969" y="1228010"/>
            <a:ext cx="89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2616" y="3990728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7103" y="4582114"/>
            <a:ext cx="139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2457" y="3712391"/>
            <a:ext cx="986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06" y="3713730"/>
            <a:ext cx="986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 Table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H="1" flipV="1">
            <a:off x="5745765" y="3579520"/>
            <a:ext cx="1" cy="157923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 flipV="1">
            <a:off x="8065163" y="3606660"/>
            <a:ext cx="1" cy="157923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18144" y="3047970"/>
            <a:ext cx="122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 Runtime System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3438606" y="3304637"/>
            <a:ext cx="769517" cy="470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6484767" y="4968555"/>
            <a:ext cx="1368152" cy="1302581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32" name="Rectangle 31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691680" y="2348879"/>
              <a:ext cx="894284" cy="127606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sp>
        <p:nvSpPr>
          <p:cNvPr id="34" name="Rectangle 33"/>
          <p:cNvSpPr/>
          <p:nvPr/>
        </p:nvSpPr>
        <p:spPr>
          <a:xfrm>
            <a:off x="5044607" y="4608514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65754" y="6120683"/>
            <a:ext cx="8177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4607" y="4824538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044607" y="5040562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044607" y="5256586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44607" y="5472610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44607" y="5688634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44607" y="5904658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2" name="Shape 42"/>
          <p:cNvCxnSpPr/>
          <p:nvPr/>
        </p:nvCxnSpPr>
        <p:spPr>
          <a:xfrm>
            <a:off x="5764687" y="4716526"/>
            <a:ext cx="1404156" cy="25202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5764687" y="4968554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764687" y="5184578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764687" y="5400602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264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User-Level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User-Level Threads</a:t>
            </a:r>
          </a:p>
          <a:p>
            <a:pPr lvl="1"/>
            <a:r>
              <a:rPr lang="en-GB" dirty="0"/>
              <a:t>Kernel not aware of the existence of threads</a:t>
            </a:r>
          </a:p>
          <a:p>
            <a:pPr lvl="1"/>
            <a:r>
              <a:rPr lang="en-GB" dirty="0"/>
              <a:t>Process uses thread library functions to manage its threads</a:t>
            </a:r>
          </a:p>
          <a:p>
            <a:r>
              <a:rPr lang="en-GB" dirty="0"/>
              <a:t>Benefit</a:t>
            </a:r>
          </a:p>
          <a:p>
            <a:pPr lvl="1"/>
            <a:r>
              <a:rPr lang="en-GB" dirty="0"/>
              <a:t>Light thread switching in user mode</a:t>
            </a:r>
          </a:p>
          <a:p>
            <a:pPr lvl="1"/>
            <a:r>
              <a:rPr lang="en-GB" dirty="0"/>
              <a:t>No mode switch necessary (no call of kernel functions)</a:t>
            </a:r>
          </a:p>
          <a:p>
            <a:pPr lvl="1"/>
            <a:r>
              <a:rPr lang="en-GB" dirty="0"/>
              <a:t>We can implement our own thread scheduling</a:t>
            </a:r>
          </a:p>
          <a:p>
            <a:r>
              <a:rPr lang="en-GB" dirty="0"/>
              <a:t>Also called “green threads” on some systems (e.g. Solaris)</a:t>
            </a:r>
          </a:p>
        </p:txBody>
      </p:sp>
    </p:spTree>
    <p:extLst>
      <p:ext uri="{BB962C8B-B14F-4D97-AF65-F5344CB8AC3E}">
        <p14:creationId xmlns:p14="http://schemas.microsoft.com/office/powerpoint/2010/main" val="58021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User-Level Threads: Disadvantage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Process is still the </a:t>
            </a:r>
            <a:r>
              <a:rPr lang="en-GB" b="1" dirty="0"/>
              <a:t>Unit of Dispatch</a:t>
            </a:r>
            <a:r>
              <a:rPr lang="en-GB" dirty="0"/>
              <a:t>, not a thread:</a:t>
            </a:r>
          </a:p>
          <a:p>
            <a:pPr lvl="1"/>
            <a:r>
              <a:rPr lang="en-GB" dirty="0"/>
              <a:t>Kernel doesn’t know threads</a:t>
            </a:r>
          </a:p>
          <a:p>
            <a:r>
              <a:rPr lang="en-GB" dirty="0"/>
              <a:t>Disadvantage:</a:t>
            </a:r>
          </a:p>
          <a:p>
            <a:pPr lvl="1"/>
            <a:r>
              <a:rPr lang="en-GB" dirty="0"/>
              <a:t>Blocking of one thread blocks entire process, including all other threads in it</a:t>
            </a:r>
          </a:p>
          <a:p>
            <a:pPr lvl="1"/>
            <a:r>
              <a:rPr lang="en-GB" dirty="0"/>
              <a:t>Only one thread can access the kernel at a time, as the process is the unit of execution known by kernel</a:t>
            </a:r>
          </a:p>
          <a:p>
            <a:pPr lvl="1"/>
            <a:r>
              <a:rPr lang="en-GB" dirty="0"/>
              <a:t>No Distribution in Multi-processor systems:</a:t>
            </a:r>
          </a:p>
          <a:p>
            <a:pPr lvl="2"/>
            <a:r>
              <a:rPr lang="en-GB" dirty="0"/>
              <a:t>All threads run on the same processor in a multiprocessor system</a:t>
            </a:r>
          </a:p>
          <a:p>
            <a:pPr lvl="2"/>
            <a:r>
              <a:rPr lang="en-GB" dirty="0"/>
              <a:t>Threads cannot run in parallel utilising different processors, as the process is dispatched on one processor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771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Kernel-Level Threads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2836143" y="3786439"/>
            <a:ext cx="657893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034469" y="1454417"/>
            <a:ext cx="2042556" cy="20425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52595" y="1714858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153" y="1714857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86792" y="1711341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2318" y="1454417"/>
            <a:ext cx="2042556" cy="20425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80444" y="1714858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4002" y="1714857"/>
            <a:ext cx="380010" cy="116401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016" y="1052374"/>
            <a:ext cx="89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2617" y="3339374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7104" y="3930760"/>
            <a:ext cx="1390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Kernel 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6454" y="1046218"/>
            <a:ext cx="89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511358" y="4501254"/>
            <a:ext cx="1368152" cy="1800200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17" name="Rectangle 16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91680" y="2348880"/>
              <a:ext cx="894284" cy="92333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94595" y="4087819"/>
            <a:ext cx="1368152" cy="2088232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20" name="Rectangle 19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91680" y="2348880"/>
              <a:ext cx="894284" cy="795974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3924988" y="3987446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89146" y="5497963"/>
            <a:ext cx="894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24988" y="4203470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24988" y="4419494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924988" y="4635518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24988" y="4851542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924988" y="5067566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924988" y="5283590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4645068" y="4115426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645068" y="4331450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645068" y="4547474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515999" y="5293342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515999" y="5509366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515999" y="5725390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515999" y="5941414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872568" y="5263725"/>
            <a:ext cx="894284" cy="92333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Control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Block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5885756" y="5449437"/>
            <a:ext cx="1599270" cy="3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8236079" y="5419473"/>
            <a:ext cx="5760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62328" y="6097634"/>
            <a:ext cx="843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 flipV="1">
            <a:off x="7473913" y="2968760"/>
            <a:ext cx="1803698" cy="219120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364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Kernel-level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Thread is </a:t>
            </a:r>
            <a:r>
              <a:rPr lang="en-GB" b="1" dirty="0"/>
              <a:t>Unit of dispatch</a:t>
            </a:r>
          </a:p>
          <a:p>
            <a:pPr lvl="1"/>
            <a:r>
              <a:rPr lang="en-GB" dirty="0"/>
              <a:t>Kernel is aware of the existence of threads</a:t>
            </a:r>
          </a:p>
          <a:p>
            <a:pPr lvl="1"/>
            <a:r>
              <a:rPr lang="en-GB" dirty="0"/>
              <a:t>Kernel manages each thread separately</a:t>
            </a:r>
          </a:p>
          <a:p>
            <a:r>
              <a:rPr lang="en-GB" dirty="0"/>
              <a:t>Benefit</a:t>
            </a:r>
          </a:p>
          <a:p>
            <a:pPr lvl="1"/>
            <a:r>
              <a:rPr lang="en-GB" dirty="0"/>
              <a:t>Fine-grained scheduling by kernel on thread basis</a:t>
            </a:r>
          </a:p>
          <a:p>
            <a:pPr lvl="1"/>
            <a:r>
              <a:rPr lang="en-GB" dirty="0"/>
              <a:t>If one of the threads blocks (e.g. waiting for I/O), another one can be scheduled by kernel without blocking the whole process</a:t>
            </a:r>
          </a:p>
          <a:p>
            <a:pPr lvl="1"/>
            <a:r>
              <a:rPr lang="en-GB" dirty="0"/>
              <a:t>Threads can be distributed to multiple processors and run in parallel – true parallelised execution of programs!</a:t>
            </a:r>
          </a:p>
          <a:p>
            <a:r>
              <a:rPr lang="en-GB" dirty="0"/>
              <a:t>Example Systems: Windows XP/7/8, Solaris, Linux, Mac OSX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1701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Kernel-Level Threads: Disadvantage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GB" dirty="0"/>
              <a:t>A context switch between threads of the same process involves kernel</a:t>
            </a:r>
          </a:p>
          <a:p>
            <a:pPr lvl="1"/>
            <a:r>
              <a:rPr lang="en-GB" dirty="0"/>
              <a:t>Mode switch: we have to switch CPU into Kernel mode</a:t>
            </a:r>
          </a:p>
          <a:p>
            <a:r>
              <a:rPr lang="en-GB" dirty="0"/>
              <a:t>Mode switch is costly</a:t>
            </a:r>
          </a:p>
          <a:p>
            <a:pPr lvl="1"/>
            <a:r>
              <a:rPr lang="en-GB" dirty="0"/>
              <a:t>2 mode switches for each context switch of a thread, is as costly as process switch</a:t>
            </a:r>
          </a:p>
        </p:txBody>
      </p:sp>
    </p:spTree>
    <p:extLst>
      <p:ext uri="{BB962C8B-B14F-4D97-AF65-F5344CB8AC3E}">
        <p14:creationId xmlns:p14="http://schemas.microsoft.com/office/powerpoint/2010/main" val="118609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Hybrid Implementations</a:t>
            </a:r>
            <a:br>
              <a:rPr lang="en-GB" dirty="0"/>
            </a:br>
            <a:r>
              <a:rPr lang="en-GB" dirty="0"/>
              <a:t>User-Kernel-Level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Try to combine advantages of both user-level and kernel-level threads</a:t>
            </a:r>
          </a:p>
          <a:p>
            <a:pPr lvl="1"/>
            <a:r>
              <a:rPr lang="en-GB" dirty="0"/>
              <a:t>User-level: light-weight thread switching</a:t>
            </a:r>
          </a:p>
          <a:p>
            <a:pPr lvl="1"/>
            <a:r>
              <a:rPr lang="en-GB" dirty="0"/>
              <a:t>Kernel-level: allows dispatch at thread level (same or different process), when one thread blocks</a:t>
            </a:r>
          </a:p>
          <a:p>
            <a:pPr lvl="1"/>
            <a:r>
              <a:rPr lang="en-GB" dirty="0"/>
              <a:t>true parallelism of threads in multiprocessor systems possible</a:t>
            </a:r>
          </a:p>
          <a:p>
            <a:r>
              <a:rPr lang="en-GB" dirty="0"/>
              <a:t>Basic technique: Mapping of user-level threads onto a limited set of kernel threads</a:t>
            </a:r>
          </a:p>
          <a:p>
            <a:r>
              <a:rPr lang="en-GB" dirty="0"/>
              <a:t>Different hybrid Multithreading Models:</a:t>
            </a:r>
          </a:p>
          <a:p>
            <a:pPr lvl="1"/>
            <a:r>
              <a:rPr lang="en-GB" dirty="0"/>
              <a:t>Many-to-one</a:t>
            </a:r>
          </a:p>
          <a:p>
            <a:pPr lvl="1"/>
            <a:r>
              <a:rPr lang="en-GB" dirty="0"/>
              <a:t>One-to-one</a:t>
            </a:r>
          </a:p>
          <a:p>
            <a:pPr lvl="1"/>
            <a:r>
              <a:rPr lang="en-GB" dirty="0"/>
              <a:t>Many-to-many</a:t>
            </a:r>
          </a:p>
        </p:txBody>
      </p:sp>
    </p:spTree>
    <p:extLst>
      <p:ext uri="{BB962C8B-B14F-4D97-AF65-F5344CB8AC3E}">
        <p14:creationId xmlns:p14="http://schemas.microsoft.com/office/powerpoint/2010/main" val="1487105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Many-to-One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5122912" cy="485313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All user-level threads of one process mapped to a single kernel-level thread / process</a:t>
            </a:r>
          </a:p>
          <a:p>
            <a:r>
              <a:rPr lang="en-GB" dirty="0"/>
              <a:t>These are the User-level threads as discussed before</a:t>
            </a:r>
          </a:p>
          <a:p>
            <a:r>
              <a:rPr lang="en-GB" dirty="0"/>
              <a:t>Thread management in user space</a:t>
            </a:r>
          </a:p>
          <a:p>
            <a:pPr lvl="1"/>
            <a:r>
              <a:rPr lang="en-GB" dirty="0"/>
              <a:t>Efficient</a:t>
            </a:r>
          </a:p>
          <a:p>
            <a:pPr lvl="1"/>
            <a:r>
              <a:rPr lang="en-GB" dirty="0"/>
              <a:t>Application can run its own scheduler implementation</a:t>
            </a:r>
          </a:p>
          <a:p>
            <a:r>
              <a:rPr lang="en-GB" dirty="0"/>
              <a:t>One thread can access the kernel at a time</a:t>
            </a:r>
          </a:p>
          <a:p>
            <a:pPr lvl="1"/>
            <a:r>
              <a:rPr lang="en-GB" dirty="0"/>
              <a:t>Limited concurrency, limited parallelism</a:t>
            </a:r>
          </a:p>
          <a:p>
            <a:r>
              <a:rPr lang="en-GB" dirty="0"/>
              <a:t>Examples</a:t>
            </a:r>
          </a:p>
          <a:p>
            <a:pPr lvl="1"/>
            <a:r>
              <a:rPr lang="en-GB" dirty="0"/>
              <a:t>“Green threads” (e.g. Solaris)</a:t>
            </a:r>
          </a:p>
          <a:p>
            <a:pPr lvl="1"/>
            <a:r>
              <a:rPr lang="en-GB" dirty="0"/>
              <a:t>Gnu Portable Threads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4112" y="2492897"/>
            <a:ext cx="3384376" cy="3323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752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One-to-One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600200"/>
            <a:ext cx="8784976" cy="509320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Each user-level thread mapped to a kernel thread</a:t>
            </a:r>
          </a:p>
          <a:p>
            <a:r>
              <a:rPr lang="en-GB" dirty="0"/>
              <a:t>These are the Kernel-level threads as discussed before</a:t>
            </a:r>
          </a:p>
          <a:p>
            <a:r>
              <a:rPr lang="en-GB" dirty="0"/>
              <a:t>One blocking thread does not block other threads</a:t>
            </a:r>
          </a:p>
          <a:p>
            <a:r>
              <a:rPr lang="en-GB" dirty="0"/>
              <a:t>Multiple threads access kernel concurrently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Problem</a:t>
            </a:r>
          </a:p>
          <a:p>
            <a:pPr lvl="1"/>
            <a:r>
              <a:rPr lang="en-GB" dirty="0"/>
              <a:t>Kernel may restrict the number of threads created</a:t>
            </a:r>
          </a:p>
          <a:p>
            <a:r>
              <a:rPr lang="en-GB" dirty="0"/>
              <a:t>Example systems</a:t>
            </a:r>
          </a:p>
          <a:p>
            <a:pPr lvl="1"/>
            <a:r>
              <a:rPr lang="en-GB" dirty="0"/>
              <a:t>Windows, Linux, Solaris 9 (and later), Mac OSX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62925" y="3397097"/>
            <a:ext cx="4038721" cy="159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30187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Many-to-Many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600200"/>
            <a:ext cx="6275040" cy="496343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Many user-level threads are multiplexed (mapped dynamically) to a smaller or equal number of kernel threads</a:t>
            </a:r>
          </a:p>
          <a:p>
            <a:pPr lvl="1"/>
            <a:r>
              <a:rPr lang="en-GB" dirty="0"/>
              <a:t>Thread pool, no fixed binding between a user and a kernel thread</a:t>
            </a:r>
          </a:p>
          <a:p>
            <a:r>
              <a:rPr lang="en-GB" dirty="0"/>
              <a:t>The number of kernel threads is specific to a particular application or computer system</a:t>
            </a:r>
          </a:p>
          <a:p>
            <a:pPr lvl="1"/>
            <a:r>
              <a:rPr lang="en-GB" dirty="0"/>
              <a:t>Application may be allocated more kernel threads on a multiprocessor architecture as on a single-processor architecture</a:t>
            </a:r>
          </a:p>
          <a:p>
            <a:r>
              <a:rPr lang="en-GB" dirty="0"/>
              <a:t>No restriction on user-level threads</a:t>
            </a:r>
          </a:p>
          <a:p>
            <a:pPr lvl="1"/>
            <a:r>
              <a:rPr lang="en-GB" dirty="0"/>
              <a:t>Applications can be designed with as many user-level threads as needed</a:t>
            </a:r>
          </a:p>
          <a:p>
            <a:pPr lvl="1"/>
            <a:r>
              <a:rPr lang="en-GB" dirty="0"/>
              <a:t>Threads are then mapped dynamically onto a smaller set of currently available kernel threads for execution</a:t>
            </a:r>
          </a:p>
          <a:p>
            <a:r>
              <a:rPr lang="en-GB" dirty="0"/>
              <a:t>Virtualisation concept for threads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27620" y="2774420"/>
            <a:ext cx="2868373" cy="245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6389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Two-level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8219256" cy="1972815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Is a variant of the Many-to-Many model, allows a fixed relationship between a user thread and a kernel thread</a:t>
            </a:r>
          </a:p>
          <a:p>
            <a:r>
              <a:rPr lang="en-GB" dirty="0"/>
              <a:t>Was used in older Unix-like systems</a:t>
            </a:r>
          </a:p>
          <a:p>
            <a:pPr lvl="1"/>
            <a:r>
              <a:rPr lang="en-GB" dirty="0"/>
              <a:t>IRIX, HP-UX, True64 Unix, Solaris 8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5417" y="3573017"/>
            <a:ext cx="3777853" cy="2543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54539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Threading Issues – Thread Pools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Threads come with some overhead</a:t>
            </a:r>
          </a:p>
          <a:p>
            <a:r>
              <a:rPr lang="en-GB" dirty="0"/>
              <a:t>Unlimited thread creation may exhaust memory and CPU</a:t>
            </a:r>
          </a:p>
          <a:p>
            <a:r>
              <a:rPr lang="en-GB" dirty="0"/>
              <a:t>Solution</a:t>
            </a:r>
          </a:p>
          <a:p>
            <a:pPr lvl="1"/>
            <a:r>
              <a:rPr lang="en-GB" dirty="0"/>
              <a:t>Thread pool: create a number of threads at system </a:t>
            </a:r>
            <a:r>
              <a:rPr lang="en-GB" dirty="0" err="1"/>
              <a:t>startup</a:t>
            </a:r>
            <a:r>
              <a:rPr lang="en-GB" dirty="0"/>
              <a:t> and put them in a pool, from where they will be allocated</a:t>
            </a:r>
          </a:p>
          <a:p>
            <a:pPr lvl="1"/>
            <a:r>
              <a:rPr lang="en-GB" dirty="0"/>
              <a:t>When an application needs to spawn a thread, an allocated thread is taken from the pool and adapted to the application’s needs</a:t>
            </a:r>
          </a:p>
          <a:p>
            <a:r>
              <a:rPr lang="en-GB" dirty="0"/>
              <a:t>Advantage</a:t>
            </a:r>
          </a:p>
          <a:p>
            <a:pPr lvl="1"/>
            <a:r>
              <a:rPr lang="en-GB" dirty="0"/>
              <a:t>Usually faster to service a request with already instantiated thread then creating a new one</a:t>
            </a:r>
          </a:p>
          <a:p>
            <a:pPr lvl="1"/>
            <a:r>
              <a:rPr lang="en-GB" dirty="0"/>
              <a:t>Allows number of threads in applications to be bound by thread pool size</a:t>
            </a:r>
          </a:p>
          <a:p>
            <a:r>
              <a:rPr lang="en-GB" dirty="0"/>
              <a:t>Number of pre-allocated threads in pool may depend on</a:t>
            </a:r>
          </a:p>
          <a:p>
            <a:pPr lvl="1"/>
            <a:r>
              <a:rPr lang="en-GB" dirty="0"/>
              <a:t>Number of CPUs, memory size</a:t>
            </a:r>
          </a:p>
          <a:p>
            <a:pPr lvl="1"/>
            <a:r>
              <a:rPr lang="en-GB" dirty="0"/>
              <a:t>Expected number of concurrent requests</a:t>
            </a:r>
          </a:p>
        </p:txBody>
      </p:sp>
    </p:spTree>
    <p:extLst>
      <p:ext uri="{BB962C8B-B14F-4D97-AF65-F5344CB8AC3E}">
        <p14:creationId xmlns:p14="http://schemas.microsoft.com/office/powerpoint/2010/main" val="2642796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Threading Issues – fork() and exec()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Semantics of fork() and exec() changes in a multithreaded program</a:t>
            </a:r>
          </a:p>
          <a:p>
            <a:pPr lvl="1"/>
            <a:r>
              <a:rPr lang="en-GB" dirty="0"/>
              <a:t>Remember:</a:t>
            </a:r>
          </a:p>
          <a:p>
            <a:pPr lvl="2"/>
            <a:r>
              <a:rPr lang="en-GB" dirty="0"/>
              <a:t>fork() creates an identical copy of the calling process</a:t>
            </a:r>
          </a:p>
          <a:p>
            <a:pPr lvl="1"/>
            <a:r>
              <a:rPr lang="en-GB" dirty="0"/>
              <a:t>In case of a multithreaded program</a:t>
            </a:r>
          </a:p>
          <a:p>
            <a:pPr lvl="2"/>
            <a:r>
              <a:rPr lang="en-GB" dirty="0"/>
              <a:t>Should the new process duplicate all threads?</a:t>
            </a:r>
          </a:p>
          <a:p>
            <a:pPr lvl="2"/>
            <a:r>
              <a:rPr lang="en-GB" dirty="0"/>
              <a:t>Or should the new process be created with only one thread?</a:t>
            </a:r>
          </a:p>
          <a:p>
            <a:pPr lvl="3"/>
            <a:r>
              <a:rPr lang="en-GB" dirty="0"/>
              <a:t>If after fork(), the new process calls exec() to start a new program within the created process image, only one thread may be sufficient</a:t>
            </a:r>
          </a:p>
          <a:p>
            <a:pPr lvl="1"/>
            <a:r>
              <a:rPr lang="en-GB" dirty="0"/>
              <a:t>Solution: some Unix systems implement two versions of fork()</a:t>
            </a:r>
          </a:p>
        </p:txBody>
      </p:sp>
    </p:spTree>
    <p:extLst>
      <p:ext uri="{BB962C8B-B14F-4D97-AF65-F5344CB8AC3E}">
        <p14:creationId xmlns:p14="http://schemas.microsoft.com/office/powerpoint/2010/main" val="4205350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GB" sz="3600"/>
              <a:t>Threads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GB" sz="2000" dirty="0"/>
              <a:t>All threads share the same address space</a:t>
            </a:r>
          </a:p>
          <a:p>
            <a:pPr lvl="1"/>
            <a:r>
              <a:rPr lang="en-GB" sz="2000" dirty="0"/>
              <a:t>Share global variables</a:t>
            </a:r>
          </a:p>
          <a:p>
            <a:r>
              <a:rPr lang="en-GB" sz="2000" dirty="0"/>
              <a:t>All threads share the same open files, child processes, signals, etc.</a:t>
            </a:r>
          </a:p>
          <a:p>
            <a:r>
              <a:rPr lang="en-GB" sz="2000" dirty="0"/>
              <a:t>There is no protection between threads</a:t>
            </a:r>
          </a:p>
          <a:p>
            <a:pPr lvl="1"/>
            <a:r>
              <a:rPr lang="en-GB" sz="2000" dirty="0"/>
              <a:t>As they share the same address space they may overwrite each other’s data</a:t>
            </a:r>
          </a:p>
          <a:p>
            <a:r>
              <a:rPr lang="en-GB" sz="2000" dirty="0"/>
              <a:t>As a process is owned by one user, all threads are owned by one user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48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91EE-B429-954B-8629-BEA1A1EF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Motivation for Threads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AF574-5F85-BB49-B3EA-A15BE912A8C0}"/>
              </a:ext>
            </a:extLst>
          </p:cNvPr>
          <p:cNvSpPr/>
          <p:nvPr/>
        </p:nvSpPr>
        <p:spPr>
          <a:xfrm>
            <a:off x="762000" y="2743200"/>
            <a:ext cx="1981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ACA9BC-27A0-0C41-8941-032F39050519}"/>
              </a:ext>
            </a:extLst>
          </p:cNvPr>
          <p:cNvSpPr/>
          <p:nvPr/>
        </p:nvSpPr>
        <p:spPr>
          <a:xfrm>
            <a:off x="4876800" y="2743200"/>
            <a:ext cx="1981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C2F005-38AB-E346-8C73-BE78FF91B8B3}"/>
              </a:ext>
            </a:extLst>
          </p:cNvPr>
          <p:cNvSpPr/>
          <p:nvPr/>
        </p:nvSpPr>
        <p:spPr>
          <a:xfrm>
            <a:off x="8763000" y="2743200"/>
            <a:ext cx="1981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Thread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63DFFB-FEDE-E54E-9A68-7B5E653151F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743200" y="3200400"/>
            <a:ext cx="213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A279A46-86D6-2841-8A5A-45056637F2AC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858000" y="3200400"/>
            <a:ext cx="1905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AFF3EEDE-B5B8-664F-A9CA-A3501843F001}"/>
              </a:ext>
            </a:extLst>
          </p:cNvPr>
          <p:cNvCxnSpPr>
            <a:stCxn id="6" idx="3"/>
            <a:endCxn id="6" idx="2"/>
          </p:cNvCxnSpPr>
          <p:nvPr/>
        </p:nvCxnSpPr>
        <p:spPr>
          <a:xfrm flipH="1">
            <a:off x="5867400" y="3200400"/>
            <a:ext cx="990600" cy="457200"/>
          </a:xfrm>
          <a:prstGeom prst="curvedConnector4">
            <a:avLst>
              <a:gd name="adj1" fmla="val -24578"/>
              <a:gd name="adj2" fmla="val 2378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111357-D6BC-7248-87BE-6AD902E2C055}"/>
              </a:ext>
            </a:extLst>
          </p:cNvPr>
          <p:cNvSpPr txBox="1"/>
          <p:nvPr/>
        </p:nvSpPr>
        <p:spPr>
          <a:xfrm>
            <a:off x="3242120" y="2288372"/>
            <a:ext cx="1135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(1) Request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3A9830-8CA5-5F4E-9E85-23BB5FF01BE4}"/>
              </a:ext>
            </a:extLst>
          </p:cNvPr>
          <p:cNvSpPr txBox="1"/>
          <p:nvPr/>
        </p:nvSpPr>
        <p:spPr>
          <a:xfrm>
            <a:off x="6781800" y="2165262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(2) Create new thread to service the request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56DB5D-D889-314C-BB74-C5BB9D75F824}"/>
              </a:ext>
            </a:extLst>
          </p:cNvPr>
          <p:cNvSpPr txBox="1"/>
          <p:nvPr/>
        </p:nvSpPr>
        <p:spPr>
          <a:xfrm>
            <a:off x="5943600" y="4444553"/>
            <a:ext cx="1447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(3) Resume listening for additional client requests</a:t>
            </a:r>
          </a:p>
        </p:txBody>
      </p:sp>
    </p:spTree>
    <p:extLst>
      <p:ext uri="{BB962C8B-B14F-4D97-AF65-F5344CB8AC3E}">
        <p14:creationId xmlns:p14="http://schemas.microsoft.com/office/powerpoint/2010/main" val="761060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GB" sz="3600"/>
              <a:t>Threads vs Processes: Advantages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GB" sz="2000" dirty="0"/>
              <a:t>Advantages of Threads</a:t>
            </a:r>
          </a:p>
          <a:p>
            <a:pPr lvl="1"/>
            <a:r>
              <a:rPr lang="en-GB" sz="2000" dirty="0"/>
              <a:t>Much faster to create a thread than a process</a:t>
            </a:r>
          </a:p>
          <a:p>
            <a:pPr lvl="2"/>
            <a:r>
              <a:rPr lang="en-GB" sz="2000" dirty="0"/>
              <a:t>Spawning a new thread only involves allocating a new stack and a new thread control block</a:t>
            </a:r>
          </a:p>
          <a:p>
            <a:pPr lvl="2"/>
            <a:r>
              <a:rPr lang="en-GB" sz="2000" dirty="0"/>
              <a:t>10x faster than process creation in Unix</a:t>
            </a:r>
          </a:p>
          <a:p>
            <a:pPr lvl="1"/>
            <a:r>
              <a:rPr lang="en-GB" sz="2000" dirty="0"/>
              <a:t>Less time to terminate a thread</a:t>
            </a:r>
          </a:p>
          <a:p>
            <a:pPr lvl="1"/>
            <a:r>
              <a:rPr lang="en-GB" sz="2000" dirty="0"/>
              <a:t>Much faster to switch between threads than to switch between processes</a:t>
            </a:r>
          </a:p>
          <a:p>
            <a:pPr lvl="1"/>
            <a:r>
              <a:rPr lang="en-GB" sz="2000" dirty="0"/>
              <a:t>Threads share data easily</a:t>
            </a:r>
          </a:p>
          <a:p>
            <a:pPr lvl="1"/>
            <a:r>
              <a:rPr lang="en-GB" sz="2000" dirty="0"/>
              <a:t>Thread communication very efficient, no need to call kernel routines, as all threads live in same process context</a:t>
            </a:r>
          </a:p>
          <a:p>
            <a:pPr lvl="1"/>
            <a:endParaRPr lang="en-GB" sz="2000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88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6D6306C-ED4F-4AAE-B4A5-EEA6AFAD7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7" y="1698171"/>
            <a:ext cx="3962061" cy="4516360"/>
          </a:xfrm>
        </p:spPr>
        <p:txBody>
          <a:bodyPr anchor="t">
            <a:normAutofit/>
          </a:bodyPr>
          <a:lstStyle/>
          <a:p>
            <a:r>
              <a:rPr lang="en-GB" sz="3600"/>
              <a:t>Threads vs Processes: Disadvantages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5361D-F897-4856-B945-0455A365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508C0C5-2268-42B5-B3C8-4D0899E05F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1ACBDB-38F8-4B34-8183-BD95B4E55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739327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00DB52-3455-4E2F-867B-A6D0516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0020" y="1698170"/>
            <a:ext cx="6478513" cy="4516361"/>
          </a:xfrm>
        </p:spPr>
        <p:txBody>
          <a:bodyPr>
            <a:normAutofit/>
          </a:bodyPr>
          <a:lstStyle/>
          <a:p>
            <a:r>
              <a:rPr lang="en-GB" sz="2000"/>
              <a:t>Disadvantages</a:t>
            </a:r>
          </a:p>
          <a:p>
            <a:pPr lvl="1"/>
            <a:r>
              <a:rPr lang="en-GB" sz="2000"/>
              <a:t>Processes are more flexible</a:t>
            </a:r>
          </a:p>
          <a:p>
            <a:pPr lvl="2"/>
            <a:r>
              <a:rPr lang="en-GB" sz="2000"/>
              <a:t>They don’t have to run on the same processor</a:t>
            </a:r>
          </a:p>
          <a:p>
            <a:pPr lvl="1"/>
            <a:r>
              <a:rPr lang="en-GB" sz="2000"/>
              <a:t>No protection between threads</a:t>
            </a:r>
          </a:p>
          <a:p>
            <a:pPr lvl="2"/>
            <a:r>
              <a:rPr lang="en-GB" sz="2000"/>
              <a:t>Share same memory, may interfere with each other</a:t>
            </a:r>
          </a:p>
          <a:p>
            <a:pPr lvl="1"/>
            <a:r>
              <a:rPr lang="en-GB" sz="2000"/>
              <a:t>If threads are implemented as user threads instead of kernel threads</a:t>
            </a:r>
          </a:p>
          <a:p>
            <a:pPr lvl="2"/>
            <a:r>
              <a:rPr lang="en-GB" sz="2000"/>
              <a:t>If one thread blocks, all threads in process block</a:t>
            </a: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E914C83-E0D8-4953-92D5-169D28CB4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423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512E083-F550-46AF-8490-767ECFD00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67297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6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POSIX standard threads: </a:t>
            </a:r>
            <a:r>
              <a:rPr lang="en-GB" dirty="0" err="1"/>
              <a:t>pthreads</a:t>
            </a:r>
            <a:endParaRPr lang="en-GB" dirty="0"/>
          </a:p>
          <a:p>
            <a:r>
              <a:rPr lang="en-GB" dirty="0"/>
              <a:t>Describes an API for creating and managing threads</a:t>
            </a:r>
          </a:p>
          <a:p>
            <a:r>
              <a:rPr lang="en-GB" dirty="0"/>
              <a:t>There is at least one thread that is created by executing main()</a:t>
            </a:r>
          </a:p>
          <a:p>
            <a:r>
              <a:rPr lang="en-GB" dirty="0"/>
              <a:t>Other threads are spawned / created from this initial thread</a:t>
            </a:r>
          </a:p>
        </p:txBody>
      </p:sp>
    </p:spTree>
    <p:extLst>
      <p:ext uri="{BB962C8B-B14F-4D97-AF65-F5344CB8AC3E}">
        <p14:creationId xmlns:p14="http://schemas.microsoft.com/office/powerpoint/2010/main" val="18499250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Thread Programming</a:t>
            </a:r>
            <a:br>
              <a:rPr lang="en-GB" dirty="0"/>
            </a:br>
            <a:r>
              <a:rPr lang="en-GB" dirty="0"/>
              <a:t>Wait for completion with join()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8337F-41FE-A848-9348-8F0A43691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5022938"/>
            <a:ext cx="8229600" cy="140385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Functions:</a:t>
            </a:r>
          </a:p>
          <a:p>
            <a:pPr lvl="1"/>
            <a:r>
              <a:rPr lang="en-US" dirty="0" err="1"/>
              <a:t>pthread_create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pthread_exit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pthread_join</a:t>
            </a:r>
            <a:r>
              <a:rPr lang="en-US" dirty="0"/>
              <a:t>()</a:t>
            </a:r>
          </a:p>
        </p:txBody>
      </p:sp>
      <p:pic>
        <p:nvPicPr>
          <p:cNvPr id="5" name="Picture 3" descr="join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130426" y="2070101"/>
            <a:ext cx="6919913" cy="25257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82674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POSIX Thread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63711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Thread creation</a:t>
            </a:r>
          </a:p>
          <a:p>
            <a:endParaRPr lang="en-GB" dirty="0"/>
          </a:p>
          <a:p>
            <a:pPr lvl="1"/>
            <a:r>
              <a:rPr lang="en-GB" dirty="0"/>
              <a:t>Returns a new thread ID with parameter “thread”</a:t>
            </a:r>
          </a:p>
          <a:p>
            <a:pPr lvl="1"/>
            <a:r>
              <a:rPr lang="en-GB" dirty="0"/>
              <a:t>Executes the routine specified by “</a:t>
            </a:r>
            <a:r>
              <a:rPr lang="en-GB" dirty="0" err="1"/>
              <a:t>start_routine</a:t>
            </a:r>
            <a:r>
              <a:rPr lang="en-GB" dirty="0"/>
              <a:t>” with argument specified by “</a:t>
            </a:r>
            <a:r>
              <a:rPr lang="en-GB" dirty="0" err="1"/>
              <a:t>arg</a:t>
            </a:r>
            <a:r>
              <a:rPr lang="en-GB" dirty="0"/>
              <a:t>”</a:t>
            </a:r>
          </a:p>
          <a:p>
            <a:r>
              <a:rPr lang="en-GB" dirty="0"/>
              <a:t>Thread termination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Terminates the thread, sends “status” to any thread waiting by calling </a:t>
            </a:r>
            <a:r>
              <a:rPr lang="en-GB" dirty="0" err="1"/>
              <a:t>pthread_join</a:t>
            </a:r>
            <a:r>
              <a:rPr lang="en-GB" dirty="0"/>
              <a:t>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9577" y="2204865"/>
            <a:ext cx="9586279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pthread_create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 thread, 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attr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start_routine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arg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9576" y="4509121"/>
            <a:ext cx="748883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pthread_exit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 status )</a:t>
            </a:r>
          </a:p>
        </p:txBody>
      </p:sp>
    </p:spTree>
    <p:extLst>
      <p:ext uri="{BB962C8B-B14F-4D97-AF65-F5344CB8AC3E}">
        <p14:creationId xmlns:p14="http://schemas.microsoft.com/office/powerpoint/2010/main" val="3224107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POSIX Thread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637111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Thread synchronisation</a:t>
            </a:r>
          </a:p>
          <a:p>
            <a:endParaRPr lang="en-GB" dirty="0"/>
          </a:p>
          <a:p>
            <a:pPr lvl="1"/>
            <a:r>
              <a:rPr lang="en-GB" dirty="0"/>
              <a:t>Blocks the calling thread until the thread specified by “</a:t>
            </a:r>
            <a:r>
              <a:rPr lang="en-GB" dirty="0" err="1"/>
              <a:t>threadid</a:t>
            </a:r>
            <a:r>
              <a:rPr lang="en-GB" dirty="0"/>
              <a:t>” terminates</a:t>
            </a:r>
          </a:p>
          <a:p>
            <a:pPr lvl="1"/>
            <a:r>
              <a:rPr lang="en-GB" dirty="0"/>
              <a:t>The argument “status” passes on the return status of </a:t>
            </a:r>
            <a:r>
              <a:rPr lang="en-GB" dirty="0" err="1"/>
              <a:t>pthread_exit</a:t>
            </a:r>
            <a:r>
              <a:rPr lang="en-GB" dirty="0"/>
              <a:t>(), called by the thread specified by “</a:t>
            </a:r>
            <a:r>
              <a:rPr lang="en-GB" dirty="0" err="1"/>
              <a:t>threadid</a:t>
            </a:r>
            <a:r>
              <a:rPr lang="en-GB" dirty="0"/>
              <a:t>”</a:t>
            </a:r>
          </a:p>
          <a:p>
            <a:r>
              <a:rPr lang="en-GB" dirty="0"/>
              <a:t>Thread yield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Calling thread gives up the CPU and enters the Ready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9576" y="2060849"/>
            <a:ext cx="7560840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pthread_join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 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threadid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status)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7568" y="4725145"/>
            <a:ext cx="748883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pthread_yield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 )</a:t>
            </a:r>
          </a:p>
        </p:txBody>
      </p:sp>
    </p:spTree>
    <p:extLst>
      <p:ext uri="{BB962C8B-B14F-4D97-AF65-F5344CB8AC3E}">
        <p14:creationId xmlns:p14="http://schemas.microsoft.com/office/powerpoint/2010/main" val="5345202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Linux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No distinction between processes and threads</a:t>
            </a:r>
          </a:p>
          <a:p>
            <a:r>
              <a:rPr lang="en-GB" dirty="0"/>
              <a:t>User-level threads are mapped into kernel-level processes (called “tasks”)</a:t>
            </a:r>
          </a:p>
          <a:p>
            <a:r>
              <a:rPr lang="en-GB" dirty="0"/>
              <a:t>A clone() system call exists</a:t>
            </a:r>
          </a:p>
          <a:p>
            <a:pPr lvl="1"/>
            <a:r>
              <a:rPr lang="en-GB" dirty="0"/>
              <a:t>A new process is created by copying the attributes of the current process</a:t>
            </a:r>
          </a:p>
          <a:p>
            <a:pPr lvl="1"/>
            <a:r>
              <a:rPr lang="en-GB" dirty="0"/>
              <a:t>Cloned processes share resources, but have separate stacks</a:t>
            </a:r>
          </a:p>
          <a:p>
            <a:r>
              <a:rPr lang="en-GB" dirty="0"/>
              <a:t>For each process, a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is created, similar to a process control block</a:t>
            </a:r>
          </a:p>
        </p:txBody>
      </p:sp>
    </p:spTree>
    <p:extLst>
      <p:ext uri="{BB962C8B-B14F-4D97-AF65-F5344CB8AC3E}">
        <p14:creationId xmlns:p14="http://schemas.microsoft.com/office/powerpoint/2010/main" val="33849379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 OSX Grand Central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Thread pool</a:t>
            </a:r>
          </a:p>
          <a:p>
            <a:r>
              <a:rPr lang="en-GB" dirty="0"/>
              <a:t>Mac OSX can operate on even more fine-grained elements:</a:t>
            </a:r>
          </a:p>
          <a:p>
            <a:pPr lvl="1"/>
            <a:r>
              <a:rPr lang="en-GB" dirty="0"/>
              <a:t>Blocks of program code are </a:t>
            </a:r>
            <a:r>
              <a:rPr lang="en-GB" b="1" dirty="0"/>
              <a:t>Units of dispatch</a:t>
            </a:r>
          </a:p>
          <a:p>
            <a:pPr lvl="2"/>
            <a:r>
              <a:rPr lang="en-GB" dirty="0"/>
              <a:t>A software designer can designate portions of program code, called blocks, that may be dispatched independently and run concurrently</a:t>
            </a:r>
          </a:p>
          <a:p>
            <a:pPr lvl="2"/>
            <a:r>
              <a:rPr lang="en-GB" dirty="0"/>
              <a:t>These are extensions to a programming language</a:t>
            </a:r>
          </a:p>
          <a:p>
            <a:r>
              <a:rPr lang="en-GB" dirty="0"/>
              <a:t>Concurrency depends on the number of CPU cores available and the thread capacity of a system</a:t>
            </a:r>
          </a:p>
        </p:txBody>
      </p:sp>
    </p:spTree>
    <p:extLst>
      <p:ext uri="{BB962C8B-B14F-4D97-AF65-F5344CB8AC3E}">
        <p14:creationId xmlns:p14="http://schemas.microsoft.com/office/powerpoint/2010/main" val="1382957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SMP Support – Processor Affinity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Processor Affinity: Relationship between a thread and a processor</a:t>
            </a:r>
          </a:p>
          <a:p>
            <a:pPr lvl="1"/>
            <a:r>
              <a:rPr lang="en-GB" dirty="0"/>
              <a:t>No affinity</a:t>
            </a:r>
          </a:p>
          <a:p>
            <a:pPr lvl="2"/>
            <a:r>
              <a:rPr lang="en-GB" dirty="0"/>
              <a:t>Threads of any process may run on any processor</a:t>
            </a:r>
          </a:p>
          <a:p>
            <a:pPr lvl="2"/>
            <a:r>
              <a:rPr lang="en-GB" dirty="0"/>
              <a:t>No guarantee that they are rescheduled on the same processor after interruption</a:t>
            </a:r>
          </a:p>
          <a:p>
            <a:pPr lvl="1"/>
            <a:r>
              <a:rPr lang="en-GB" dirty="0"/>
              <a:t>Soft affinity:</a:t>
            </a:r>
          </a:p>
          <a:p>
            <a:pPr lvl="2"/>
            <a:r>
              <a:rPr lang="en-GB" dirty="0"/>
              <a:t>Dispatcher tries to re-assign threads to the same processor after interruption</a:t>
            </a:r>
          </a:p>
          <a:p>
            <a:pPr lvl="2"/>
            <a:r>
              <a:rPr lang="en-GB" dirty="0"/>
              <a:t>Helps to reuse data still </a:t>
            </a:r>
            <a:r>
              <a:rPr lang="en-GB"/>
              <a:t>held in </a:t>
            </a:r>
            <a:r>
              <a:rPr lang="en-GB" dirty="0"/>
              <a:t>processor cache, less cleanup and reload necessary</a:t>
            </a:r>
          </a:p>
          <a:p>
            <a:pPr lvl="1"/>
            <a:r>
              <a:rPr lang="en-GB" dirty="0"/>
              <a:t>Hard affinity</a:t>
            </a:r>
          </a:p>
          <a:p>
            <a:pPr lvl="2"/>
            <a:r>
              <a:rPr lang="en-GB" dirty="0"/>
              <a:t>Application restricts execution of a thread to a particular processor / processor core</a:t>
            </a:r>
          </a:p>
        </p:txBody>
      </p:sp>
    </p:spTree>
    <p:extLst>
      <p:ext uri="{BB962C8B-B14F-4D97-AF65-F5344CB8AC3E}">
        <p14:creationId xmlns:p14="http://schemas.microsoft.com/office/powerpoint/2010/main" val="24446946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User-level threads</a:t>
            </a:r>
          </a:p>
          <a:p>
            <a:pPr lvl="1"/>
            <a:r>
              <a:rPr lang="en-GB" dirty="0"/>
              <a:t>Created and managed by a thread library that runs in the user space of a process</a:t>
            </a:r>
          </a:p>
          <a:p>
            <a:pPr lvl="1"/>
            <a:r>
              <a:rPr lang="en-GB" dirty="0"/>
              <a:t>No mode switch required to switch from one thread to another</a:t>
            </a:r>
          </a:p>
          <a:p>
            <a:pPr lvl="1"/>
            <a:r>
              <a:rPr lang="en-GB" dirty="0"/>
              <a:t>Only a single user-level thread within a process can execute at a time, no execution in parallel on a multiprocessor system</a:t>
            </a:r>
          </a:p>
          <a:p>
            <a:pPr lvl="1"/>
            <a:r>
              <a:rPr lang="en-GB" dirty="0"/>
              <a:t>If one thread blocks, the entire process is blocked</a:t>
            </a:r>
          </a:p>
          <a:p>
            <a:r>
              <a:rPr lang="en-GB" dirty="0"/>
              <a:t>Kernel-level threads</a:t>
            </a:r>
          </a:p>
          <a:p>
            <a:pPr lvl="1"/>
            <a:r>
              <a:rPr lang="en-GB" dirty="0"/>
              <a:t>Threads within a process are maintained by the kernel</a:t>
            </a:r>
          </a:p>
          <a:p>
            <a:pPr lvl="1"/>
            <a:r>
              <a:rPr lang="en-GB" dirty="0"/>
              <a:t>A mode switch is required to switch from one thread to another</a:t>
            </a:r>
          </a:p>
          <a:p>
            <a:pPr lvl="1"/>
            <a:r>
              <a:rPr lang="en-GB" dirty="0"/>
              <a:t>Multiple threads within the same process can execute in parallel on a multiprocessor system</a:t>
            </a:r>
          </a:p>
          <a:p>
            <a:pPr lvl="1"/>
            <a:r>
              <a:rPr lang="en-GB" dirty="0"/>
              <a:t>Blocking of one thread does not block the entire process</a:t>
            </a:r>
          </a:p>
          <a:p>
            <a:r>
              <a:rPr lang="en-GB" dirty="0"/>
              <a:t>Process: resource ownership</a:t>
            </a:r>
          </a:p>
          <a:p>
            <a:r>
              <a:rPr lang="en-GB" dirty="0"/>
              <a:t>Thread: program execution / dispatching</a:t>
            </a:r>
          </a:p>
        </p:txBody>
      </p:sp>
    </p:spTree>
    <p:extLst>
      <p:ext uri="{BB962C8B-B14F-4D97-AF65-F5344CB8AC3E}">
        <p14:creationId xmlns:p14="http://schemas.microsoft.com/office/powerpoint/2010/main" val="3751665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8DB14502962D419D9417ED5ACDA231" ma:contentTypeVersion="8" ma:contentTypeDescription="Create a new document." ma:contentTypeScope="" ma:versionID="b4ede9465d37b3bee0128b87e3606b8d">
  <xsd:schema xmlns:xsd="http://www.w3.org/2001/XMLSchema" xmlns:xs="http://www.w3.org/2001/XMLSchema" xmlns:p="http://schemas.microsoft.com/office/2006/metadata/properties" xmlns:ns2="51a4a141-491c-4f5e-80f2-5dd3e0bdcc31" targetNamespace="http://schemas.microsoft.com/office/2006/metadata/properties" ma:root="true" ma:fieldsID="8a972dcc519a08759ca8b361c7932682" ns2:_="">
    <xsd:import namespace="51a4a141-491c-4f5e-80f2-5dd3e0bdc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a4a141-491c-4f5e-80f2-5dd3e0bdcc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31EF9C-3EBB-46E0-BB5D-5ACA67094F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64E6D8-2456-47E1-9187-EB77A3A00AF8}">
  <ds:schemaRefs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www.w3.org/XML/1998/namespace"/>
    <ds:schemaRef ds:uri="51a4a141-491c-4f5e-80f2-5dd3e0bdcc31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A01DA0B-5568-482F-8AC3-743023BFE1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a4a141-491c-4f5e-80f2-5dd3e0bdcc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2079</Words>
  <Application>Microsoft Office PowerPoint</Application>
  <PresentationFormat>Widescreen</PresentationFormat>
  <Paragraphs>336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Office Theme</vt:lpstr>
      <vt:lpstr>1_Office Theme</vt:lpstr>
      <vt:lpstr>Processes and Threads</vt:lpstr>
      <vt:lpstr>Multithreading</vt:lpstr>
      <vt:lpstr>Multithreading</vt:lpstr>
      <vt:lpstr>Process – Unit of Resource Ownership</vt:lpstr>
      <vt:lpstr>Threads – Units of Dispatch</vt:lpstr>
      <vt:lpstr>Threads in Unix</vt:lpstr>
      <vt:lpstr>Thread Implementation</vt:lpstr>
      <vt:lpstr>User Threads</vt:lpstr>
      <vt:lpstr>Kernel Threads</vt:lpstr>
      <vt:lpstr>Thread Implementation</vt:lpstr>
      <vt:lpstr>User-Level Threads</vt:lpstr>
      <vt:lpstr>User-Level Threads</vt:lpstr>
      <vt:lpstr>User-Level Threads: Disadvantage</vt:lpstr>
      <vt:lpstr>Kernel-Level Threads</vt:lpstr>
      <vt:lpstr>Kernel-level Threads</vt:lpstr>
      <vt:lpstr>Kernel-Level Threads: Disadvantage</vt:lpstr>
      <vt:lpstr>Hybrid Implementations User-Kernel-Level Threads</vt:lpstr>
      <vt:lpstr>Many-to-One Model</vt:lpstr>
      <vt:lpstr>One-to-One Model</vt:lpstr>
      <vt:lpstr>Many-to-Many Model</vt:lpstr>
      <vt:lpstr>Two-level Model</vt:lpstr>
      <vt:lpstr>Threading Issues – Thread Pools</vt:lpstr>
      <vt:lpstr>Threading Issues – fork() and exec()</vt:lpstr>
      <vt:lpstr>Threads</vt:lpstr>
      <vt:lpstr>Motivation for Threads</vt:lpstr>
      <vt:lpstr>Threads vs Processes: Advantages</vt:lpstr>
      <vt:lpstr>Threads vs Processes: Disadvantages</vt:lpstr>
      <vt:lpstr>Thread Programming</vt:lpstr>
      <vt:lpstr>Thread Programming Wait for completion with join()</vt:lpstr>
      <vt:lpstr>POSIX Thread Programming</vt:lpstr>
      <vt:lpstr>POSIX Thread Programming</vt:lpstr>
      <vt:lpstr>Linux Threads</vt:lpstr>
      <vt:lpstr>Mac OSX Grand Central Dispatch</vt:lpstr>
      <vt:lpstr>SMP Support – Processor Affinity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Multithreading</dc:title>
  <dc:creator>Raja Akram</dc:creator>
  <cp:lastModifiedBy>Ciocarlan, Ana</cp:lastModifiedBy>
  <cp:revision>10</cp:revision>
  <dcterms:created xsi:type="dcterms:W3CDTF">2020-10-01T16:29:15Z</dcterms:created>
  <dcterms:modified xsi:type="dcterms:W3CDTF">2025-09-15T09:12:16Z</dcterms:modified>
</cp:coreProperties>
</file>